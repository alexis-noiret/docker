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projet Docker : 11 jobs et un bonus, tous réalisés à la main sur une VM Debian 13. Dépôt : github.com/alexis-noiret/docker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Installation par le dépôt officiel Docker, pas le paquet docker.io de Debian. Le sed commente la ligne cdrom qui fait échouer apt update. Après usermod, il faut se reconnecter pour que le groupe soit pris en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image est un modèle en lecture seule, un conteneur est une instance qui tourne. hello-world affiche son message puis s'arrête : il apparaît dans docker ps -a mais pas dans docker 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instruction crée une couche. Le diff vide prouve que le contenu copié dans l'image est identique au fichier d'origine.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Captures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hôte:conteneur. Erreur classique : taper la commande depuis l'intérieur du conteneur. Il faut sortir avec exit puis relancer depuis la machine hôte.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Captures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alias sont un raccourci du shell, pas une fonctionnalité de Docker. Ils sont persistants parce qu'écrits dans .bashrc.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volume vit en dehors du cycle de vie du conteneur. Deux conteneurs qui montent le même volume partagent les fichiers.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volume est partagé entre nginx, qui sert, et le serveur FTP, qui écrit. ADDRESS doit être l'IP de la VM pour que le mode passif fonctionne.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version basée sur Debian pèse 243 Mo contre 132 Mo pour l'image nginx officielle : l'image officielle est plus légère et déjà optimisée.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Captures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registry est lui-même un conteneur. L'interface permet de voir les dépôts et les tags sans passer par curl.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Captures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scripts sont indépendants. La désinstallation demande confirmation car elle supprime /var/lib/docker, donc toutes les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Captures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socket Docker est l'équivalent d'un accès root : qui contrôle Docker contrôle la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Captures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manipulation faite en CLI est refaite dans l'interface. Le résultat est identique, mais moins reproductible.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Captures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une image qui n'existe qu'en local, l'option de pull systématique fait échouer le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Captures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Dockge est la meilleure alternative pour un hôte unique sous Compose. Yacht est abandonné depuis janvier 2023. Tous montent le socket Docker et partagent le même risque.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conteneurs sur un même réseau Compose. Le service web joint la base par son nom de service,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Captures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 les jobs ont tous été faits à la main ; les scripts ne servent qu'à rejouer une démo. Limite connue du job 10 : pas de vérification du résultat.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7863840" y="-1463040"/>
            <a:ext cx="6400800" cy="6400800"/>
          </a:xfrm>
          <a:prstGeom prst="ellipse">
            <a:avLst/>
          </a:prstGeom>
          <a:solidFill>
            <a:srgbClr val="101B33"/>
          </a:solidFill>
          <a:ln w="12700">
            <a:solidFill>
              <a:srgbClr val="101B33"/>
            </a:solidFill>
            <a:prstDash val="solid"/>
          </a:ln>
        </p:spPr>
      </p:sp>
      <p:sp>
        <p:nvSpPr>
          <p:cNvPr id="21" name="Text 19"/>
          <p:cNvSpPr txBox="1"/>
          <p:nvPr/>
        </p:nvSpPr>
        <p:spPr>
          <a:xfrm>
            <a:off x="548640" y="914400"/>
            <a:ext cx="1097280" cy="914400"/>
          </a:xfrm>
          <a:prstGeom prst="rect">
            <a:avLst/>
          </a:prstGeom>
          <a:noFill/>
          <a:ln/>
        </p:spPr>
        <p:txBody>
          <a:bodyPr wrap="square" lIns="0" tIns="0" rIns="0" bIns="0" rtlCol="0" anchor="ctr"/>
          <a:lstStyle/>
          <a:p>
            <a:pPr indent="0" marL="0">
              <a:buNone/>
            </a:pPr>
            <a:r>
              <a:rPr lang="en-US" sz="4800" dirty="0">
                <a:solidFill>
                  <a:srgbClr val="000000"/>
                </a:solidFill>
              </a:rPr>
              <a:t>🐳</a:t>
            </a:r>
            <a:endParaRPr lang="en-US" sz="4800" dirty="0"/>
          </a:p>
        </p:txBody>
      </p:sp>
      <p:sp>
        <p:nvSpPr>
          <p:cNvPr id="22" name="Text 20"/>
          <p:cNvSpPr txBox="1"/>
          <p:nvPr/>
        </p:nvSpPr>
        <p:spPr>
          <a:xfrm>
            <a:off x="548640" y="1828800"/>
            <a:ext cx="8229600" cy="1188720"/>
          </a:xfrm>
          <a:prstGeom prst="rect">
            <a:avLst/>
          </a:prstGeom>
          <a:noFill/>
          <a:ln/>
        </p:spPr>
        <p:txBody>
          <a:bodyPr wrap="square" lIns="0" tIns="0" rIns="0" bIns="0" rtlCol="0" anchor="ctr"/>
          <a:lstStyle/>
          <a:p>
            <a:pPr indent="0" marL="0">
              <a:buNone/>
            </a:pPr>
            <a:r>
              <a:rPr lang="en-US" sz="7200" b="1" dirty="0">
                <a:solidFill>
                  <a:srgbClr val="FFFFFF"/>
                </a:solidFill>
                <a:latin typeface="Bookman Old Style" pitchFamily="34" charset="0"/>
                <a:ea typeface="Bookman Old Style" pitchFamily="34" charset="-122"/>
                <a:cs typeface="Bookman Old Style" pitchFamily="34" charset="-120"/>
              </a:rPr>
              <a:t>Docker</a:t>
            </a:r>
            <a:endParaRPr lang="en-US" sz="7200" dirty="0"/>
          </a:p>
        </p:txBody>
      </p:sp>
      <p:sp>
        <p:nvSpPr>
          <p:cNvPr id="23" name="Text 21"/>
          <p:cNvSpPr txBox="1"/>
          <p:nvPr/>
        </p:nvSpPr>
        <p:spPr>
          <a:xfrm>
            <a:off x="548640" y="3108960"/>
            <a:ext cx="9144000" cy="457200"/>
          </a:xfrm>
          <a:prstGeom prst="rect">
            <a:avLst/>
          </a:prstGeom>
          <a:noFill/>
          <a:ln/>
        </p:spPr>
        <p:txBody>
          <a:bodyPr wrap="square" lIns="0" tIns="0" rIns="0" bIns="0" rtlCol="0" anchor="ctr"/>
          <a:lstStyle/>
          <a:p>
            <a:pPr indent="0" marL="0">
              <a:buNone/>
            </a:pPr>
            <a:r>
              <a:rPr lang="en-US" sz="2000" i="1" dirty="0">
                <a:solidFill>
                  <a:srgbClr val="22D3EE"/>
                </a:solidFill>
                <a:latin typeface="Calibri" pitchFamily="34" charset="0"/>
                <a:ea typeface="Calibri" pitchFamily="34" charset="-122"/>
                <a:cs typeface="Calibri" pitchFamily="34" charset="-120"/>
              </a:rPr>
              <a:t>Conteneurisation — de hello-world à la stack LAMP</a:t>
            </a:r>
            <a:endParaRPr lang="en-US" sz="2000" dirty="0"/>
          </a:p>
        </p:txBody>
      </p:sp>
      <p:sp>
        <p:nvSpPr>
          <p:cNvPr id="24" name="Shape 22"/>
          <p:cNvSpPr/>
          <p:nvPr/>
        </p:nvSpPr>
        <p:spPr>
          <a:xfrm>
            <a:off x="548640" y="3749040"/>
            <a:ext cx="2194560" cy="0"/>
          </a:xfrm>
          <a:prstGeom prst="line">
            <a:avLst/>
          </a:prstGeom>
          <a:noFill/>
          <a:ln w="25400">
            <a:solidFill>
              <a:srgbClr val="F43F8E"/>
            </a:solidFill>
            <a:prstDash val="solid"/>
          </a:ln>
        </p:spPr>
      </p:sp>
      <p:sp>
        <p:nvSpPr>
          <p:cNvPr id="25" name="Text 23"/>
          <p:cNvSpPr txBox="1"/>
          <p:nvPr/>
        </p:nvSpPr>
        <p:spPr>
          <a:xfrm>
            <a:off x="548640" y="4023360"/>
            <a:ext cx="91440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Alexis Noiret</a:t>
            </a:r>
            <a:pPr indent="0" marL="0">
              <a:buNone/>
            </a:pPr>
            <a:r>
              <a:rPr lang="en-US" sz="1500" dirty="0">
                <a:solidFill>
                  <a:srgbClr val="B8C4D6"/>
                </a:solidFill>
                <a:latin typeface="Calibri" pitchFamily="34" charset="0"/>
                <a:ea typeface="Calibri" pitchFamily="34" charset="-122"/>
                <a:cs typeface="Calibri" pitchFamily="34" charset="-120"/>
              </a:rPr>
              <a:t>   —   Projet Docker</a:t>
            </a:r>
            <a:endParaRPr lang="en-US" sz="1500" dirty="0"/>
          </a:p>
        </p:txBody>
      </p:sp>
      <p:sp>
        <p:nvSpPr>
          <p:cNvPr id="26" name="Text 24"/>
          <p:cNvSpPr txBox="1"/>
          <p:nvPr/>
        </p:nvSpPr>
        <p:spPr>
          <a:xfrm>
            <a:off x="548640" y="4434840"/>
            <a:ext cx="91440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Bachelor IT Cybersécurité — La Plateforme</a:t>
            </a:r>
            <a:endParaRPr lang="en-US" sz="1200" dirty="0"/>
          </a:p>
        </p:txBody>
      </p:sp>
      <p:sp>
        <p:nvSpPr>
          <p:cNvPr id="27" name="Text 25"/>
          <p:cNvSpPr txBox="1"/>
          <p:nvPr/>
        </p:nvSpPr>
        <p:spPr>
          <a:xfrm>
            <a:off x="548640" y="5760720"/>
            <a:ext cx="10058400" cy="274320"/>
          </a:xfrm>
          <a:prstGeom prst="rect">
            <a:avLst/>
          </a:prstGeom>
          <a:noFill/>
          <a:ln/>
        </p:spPr>
        <p:txBody>
          <a:bodyPr wrap="square" lIns="0" tIns="0" rIns="0" bIns="0" rtlCol="0" anchor="ctr"/>
          <a:lstStyle/>
          <a:p>
            <a:pPr indent="0" marL="0">
              <a:buNone/>
            </a:pPr>
            <a:r>
              <a:rPr lang="en-US" sz="1100" dirty="0">
                <a:solidFill>
                  <a:srgbClr val="22D3EE"/>
                </a:solidFill>
                <a:latin typeface="Courier New" pitchFamily="34" charset="0"/>
                <a:ea typeface="Courier New" pitchFamily="34" charset="-122"/>
                <a:cs typeface="Courier New" pitchFamily="34" charset="-120"/>
              </a:rPr>
              <a:t>Docker Engine · Compose · Registry · Portainer     11 jobs + bonus     Debian 13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01 — Installer Docker</a:t>
            </a:r>
            <a:endParaRPr lang="en-US" sz="2600" dirty="0"/>
          </a:p>
        </p:txBody>
      </p:sp>
      <p:sp>
        <p:nvSpPr>
          <p:cNvPr id="22" name="Shape 20"/>
          <p:cNvSpPr/>
          <p:nvPr/>
        </p:nvSpPr>
        <p:spPr>
          <a:xfrm>
            <a:off x="411480" y="1188720"/>
            <a:ext cx="4389120" cy="2029968"/>
          </a:xfrm>
          <a:prstGeom prst="rect">
            <a:avLst/>
          </a:prstGeom>
          <a:solidFill>
            <a:srgbClr val="111A2E"/>
          </a:solidFill>
          <a:ln w="12700">
            <a:solidFill>
              <a:srgbClr val="1E2B47"/>
            </a:solidFill>
            <a:prstDash val="solid"/>
          </a:ln>
        </p:spPr>
      </p:sp>
      <p:sp>
        <p:nvSpPr>
          <p:cNvPr id="23" name="Text 21"/>
          <p:cNvSpPr txBox="1"/>
          <p:nvPr/>
        </p:nvSpPr>
        <p:spPr>
          <a:xfrm>
            <a:off x="640080" y="1188720"/>
            <a:ext cx="4023360" cy="2029968"/>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Debian 13 (VMware), dépôt officiel Docker</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Paquets docker-ce, CLI, containerd, buildx, compose</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Utilisateur ajouté au groupe docker</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Vérification : service actif</a:t>
            </a:r>
            <a:endParaRPr lang="en-US" sz="1400" dirty="0"/>
          </a:p>
        </p:txBody>
      </p:sp>
      <p:sp>
        <p:nvSpPr>
          <p:cNvPr id="24" name="Shape 22"/>
          <p:cNvSpPr/>
          <p:nvPr/>
        </p:nvSpPr>
        <p:spPr>
          <a:xfrm>
            <a:off x="411480" y="3401568"/>
            <a:ext cx="4389120" cy="1005840"/>
          </a:xfrm>
          <a:prstGeom prst="rect">
            <a:avLst/>
          </a:prstGeom>
          <a:solidFill>
            <a:srgbClr val="0D1426"/>
          </a:solidFill>
          <a:ln w="12700">
            <a:solidFill>
              <a:srgbClr val="1E2B47"/>
            </a:solidFill>
            <a:prstDash val="solid"/>
          </a:ln>
        </p:spPr>
      </p:sp>
      <p:sp>
        <p:nvSpPr>
          <p:cNvPr id="25" name="Text 23"/>
          <p:cNvSpPr txBox="1"/>
          <p:nvPr/>
        </p:nvSpPr>
        <p:spPr>
          <a:xfrm>
            <a:off x="594360" y="3401568"/>
            <a:ext cx="4114800" cy="1005840"/>
          </a:xfrm>
          <a:prstGeom prst="rect">
            <a:avLst/>
          </a:prstGeom>
          <a:noFill/>
          <a:ln/>
        </p:spPr>
        <p:txBody>
          <a:bodyPr wrap="square" lIns="0" tIns="0" rIns="0" bIns="0" rtlCol="0" anchor="ctr"/>
          <a:lstStyle/>
          <a:p>
            <a:pPr indent="0" marL="0">
              <a:buNone/>
            </a:pPr>
            <a:r>
              <a:rPr lang="en-US" sz="1000" dirty="0">
                <a:solidFill>
                  <a:srgbClr val="34D399"/>
                </a:solidFill>
                <a:latin typeface="Courier New" pitchFamily="34" charset="0"/>
                <a:ea typeface="Courier New" pitchFamily="34" charset="-122"/>
                <a:cs typeface="Courier New" pitchFamily="34" charset="-120"/>
              </a:rPr>
              <a:t>$ sudo apt install docker-ce docker-ce-cli containerd.io</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sudo usermod -aG docker $USER</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systemctl status docker</a:t>
            </a:r>
            <a:endParaRPr lang="en-US" sz="1000" dirty="0"/>
          </a:p>
        </p:txBody>
      </p:sp>
      <p:pic>
        <p:nvPicPr>
          <p:cNvPr id="26" name="Image 0" descr="/tmp/job11/allimg/job01-systemctl-status-docker.png">    </p:cNvPr>
          <p:cNvPicPr>
            <a:picLocks noChangeAspect="1"/>
          </p:cNvPicPr>
          <p:nvPr/>
        </p:nvPicPr>
        <p:blipFill>
          <a:blip r:embed="rId1"/>
          <a:stretch>
            <a:fillRect/>
          </a:stretch>
        </p:blipFill>
        <p:spPr>
          <a:xfrm>
            <a:off x="5074920" y="2040688"/>
            <a:ext cx="6675120" cy="2365144"/>
          </a:xfrm>
          <a:prstGeom prst="rect">
            <a:avLst/>
          </a:prstGeom>
        </p:spPr>
      </p:pic>
      <p:sp>
        <p:nvSpPr>
          <p:cNvPr id="27" name="Shape 24"/>
          <p:cNvSpPr/>
          <p:nvPr/>
        </p:nvSpPr>
        <p:spPr>
          <a:xfrm>
            <a:off x="5029200" y="1994968"/>
            <a:ext cx="164592" cy="0"/>
          </a:xfrm>
          <a:prstGeom prst="line">
            <a:avLst/>
          </a:prstGeom>
          <a:noFill/>
          <a:ln w="27940">
            <a:solidFill>
              <a:srgbClr val="F43F8E"/>
            </a:solidFill>
            <a:prstDash val="solid"/>
          </a:ln>
        </p:spPr>
      </p:sp>
      <p:sp>
        <p:nvSpPr>
          <p:cNvPr id="28" name="Shape 25"/>
          <p:cNvSpPr/>
          <p:nvPr/>
        </p:nvSpPr>
        <p:spPr>
          <a:xfrm>
            <a:off x="5029200" y="1994968"/>
            <a:ext cx="0" cy="164592"/>
          </a:xfrm>
          <a:prstGeom prst="line">
            <a:avLst/>
          </a:prstGeom>
          <a:noFill/>
          <a:ln w="27940">
            <a:solidFill>
              <a:srgbClr val="F43F8E"/>
            </a:solidFill>
            <a:prstDash val="solid"/>
          </a:ln>
        </p:spPr>
      </p:sp>
      <p:sp>
        <p:nvSpPr>
          <p:cNvPr id="29" name="Shape 26"/>
          <p:cNvSpPr/>
          <p:nvPr/>
        </p:nvSpPr>
        <p:spPr>
          <a:xfrm>
            <a:off x="11631168" y="4451552"/>
            <a:ext cx="164592" cy="0"/>
          </a:xfrm>
          <a:prstGeom prst="line">
            <a:avLst/>
          </a:prstGeom>
          <a:noFill/>
          <a:ln w="27940">
            <a:solidFill>
              <a:srgbClr val="22D3EE"/>
            </a:solidFill>
            <a:prstDash val="solid"/>
          </a:ln>
        </p:spPr>
      </p:sp>
      <p:sp>
        <p:nvSpPr>
          <p:cNvPr id="30" name="Shape 27"/>
          <p:cNvSpPr/>
          <p:nvPr/>
        </p:nvSpPr>
        <p:spPr>
          <a:xfrm>
            <a:off x="11795760" y="4286960"/>
            <a:ext cx="0" cy="164592"/>
          </a:xfrm>
          <a:prstGeom prst="line">
            <a:avLst/>
          </a:prstGeom>
          <a:noFill/>
          <a:ln w="27940">
            <a:solidFill>
              <a:srgbClr val="22D3EE"/>
            </a:solidFill>
            <a:prstDash val="solid"/>
          </a:ln>
        </p:spPr>
      </p:sp>
      <p:sp>
        <p:nvSpPr>
          <p:cNvPr id="31" name="Shape 28"/>
          <p:cNvSpPr/>
          <p:nvPr/>
        </p:nvSpPr>
        <p:spPr>
          <a:xfrm>
            <a:off x="411480" y="5486400"/>
            <a:ext cx="11338560" cy="731520"/>
          </a:xfrm>
          <a:prstGeom prst="rect">
            <a:avLst/>
          </a:prstGeom>
          <a:solidFill>
            <a:srgbClr val="1A0F1E"/>
          </a:solidFill>
          <a:ln w="15875">
            <a:solidFill>
              <a:srgbClr val="F43F8E"/>
            </a:solidFill>
            <a:prstDash val="solid"/>
          </a:ln>
        </p:spPr>
      </p:sp>
      <p:sp>
        <p:nvSpPr>
          <p:cNvPr id="32" name="Text 29"/>
          <p:cNvSpPr txBox="1"/>
          <p:nvPr/>
        </p:nvSpPr>
        <p:spPr>
          <a:xfrm>
            <a:off x="640080" y="5532120"/>
            <a:ext cx="3657600" cy="256032"/>
          </a:xfrm>
          <a:prstGeom prst="rect">
            <a:avLst/>
          </a:prstGeom>
          <a:noFill/>
          <a:ln/>
        </p:spPr>
        <p:txBody>
          <a:bodyPr wrap="square" lIns="0" tIns="0" rIns="0" bIns="0" rtlCol="0" anchor="ctr"/>
          <a:lstStyle/>
          <a:p>
            <a:pPr indent="0" marL="0">
              <a:buNone/>
            </a:pPr>
            <a:r>
              <a:rPr lang="en-US" sz="1100" b="1" spc="300" kern="0" dirty="0">
                <a:solidFill>
                  <a:srgbClr val="F43F8E"/>
                </a:solidFill>
                <a:latin typeface="Calibri" pitchFamily="34" charset="0"/>
                <a:ea typeface="Calibri" pitchFamily="34" charset="-122"/>
                <a:cs typeface="Calibri" pitchFamily="34" charset="-120"/>
              </a:rPr>
              <a:t>⚡ PROBLÈME RÉSOLU</a:t>
            </a:r>
            <a:endParaRPr lang="en-US" sz="1100" dirty="0"/>
          </a:p>
        </p:txBody>
      </p:sp>
      <p:sp>
        <p:nvSpPr>
          <p:cNvPr id="33" name="Text 30"/>
          <p:cNvSpPr txBox="1"/>
          <p:nvPr/>
        </p:nvSpPr>
        <p:spPr>
          <a:xfrm>
            <a:off x="640080" y="5806440"/>
            <a:ext cx="10881360" cy="365760"/>
          </a:xfrm>
          <a:prstGeom prst="rect">
            <a:avLst/>
          </a:prstGeom>
          <a:noFill/>
          <a:ln/>
        </p:spPr>
        <p:txBody>
          <a:bodyPr wrap="square" lIns="0" tIns="0" rIns="0" bIns="0" rtlCol="0" anchor="ctr"/>
          <a:lstStyle/>
          <a:p>
            <a:pPr indent="0" marL="0">
              <a:buNone/>
            </a:pPr>
            <a:r>
              <a:rPr lang="en-US" sz="1250" b="1" dirty="0">
                <a:solidFill>
                  <a:srgbClr val="F43F8E"/>
                </a:solidFill>
                <a:latin typeface="Calibri" pitchFamily="34" charset="0"/>
                <a:ea typeface="Calibri" pitchFamily="34" charset="-122"/>
                <a:cs typeface="Calibri" pitchFamily="34" charset="-120"/>
              </a:rPr>
              <a:t>Symptôme  </a:t>
            </a:r>
            <a:pPr indent="0" marL="0">
              <a:buNone/>
            </a:pPr>
            <a:r>
              <a:rPr lang="en-US" sz="1250" dirty="0">
                <a:solidFill>
                  <a:srgbClr val="E6EDF7"/>
                </a:solidFill>
                <a:latin typeface="Calibri" pitchFamily="34" charset="0"/>
                <a:ea typeface="Calibri" pitchFamily="34" charset="-122"/>
                <a:cs typeface="Calibri" pitchFamily="34" charset="-120"/>
              </a:rPr>
              <a:t>Dépôt cdrom bloquant apt     </a:t>
            </a:r>
            <a:pPr indent="0" marL="0">
              <a:buNone/>
            </a:pPr>
            <a:r>
              <a:rPr lang="en-US" sz="1250" b="1" dirty="0">
                <a:solidFill>
                  <a:srgbClr val="34D399"/>
                </a:solidFill>
                <a:latin typeface="Calibri" pitchFamily="34" charset="0"/>
                <a:ea typeface="Calibri" pitchFamily="34" charset="-122"/>
                <a:cs typeface="Calibri" pitchFamily="34" charset="-120"/>
              </a:rPr>
              <a:t>Solution  </a:t>
            </a:r>
            <a:pPr indent="0" marL="0">
              <a:buNone/>
            </a:pPr>
            <a:r>
              <a:rPr lang="en-US" sz="1250" dirty="0">
                <a:solidFill>
                  <a:srgbClr val="E6EDF7"/>
                </a:solidFill>
                <a:latin typeface="Calibri" pitchFamily="34" charset="0"/>
                <a:ea typeface="Calibri" pitchFamily="34" charset="-122"/>
                <a:cs typeface="Calibri" pitchFamily="34" charset="-120"/>
              </a:rPr>
              <a:t>Ligne cdrom du sources.list commentée avant apt update</a:t>
            </a:r>
            <a:endParaRPr lang="en-US" sz="1250" dirty="0"/>
          </a:p>
        </p:txBody>
      </p:sp>
      <p:sp>
        <p:nvSpPr>
          <p:cNvPr id="34" name="Text 31"/>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5" name="Text 32"/>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02 — Premier conteneur</a:t>
            </a:r>
            <a:endParaRPr lang="en-US" sz="2600" dirty="0"/>
          </a:p>
        </p:txBody>
      </p:sp>
      <p:sp>
        <p:nvSpPr>
          <p:cNvPr id="22" name="Shape 20"/>
          <p:cNvSpPr/>
          <p:nvPr/>
        </p:nvSpPr>
        <p:spPr>
          <a:xfrm>
            <a:off x="411480" y="1188720"/>
            <a:ext cx="4389120" cy="2029968"/>
          </a:xfrm>
          <a:prstGeom prst="rect">
            <a:avLst/>
          </a:prstGeom>
          <a:solidFill>
            <a:srgbClr val="111A2E"/>
          </a:solidFill>
          <a:ln w="12700">
            <a:solidFill>
              <a:srgbClr val="1E2B47"/>
            </a:solidFill>
            <a:prstDash val="solid"/>
          </a:ln>
        </p:spPr>
      </p:sp>
      <p:sp>
        <p:nvSpPr>
          <p:cNvPr id="23" name="Text 21"/>
          <p:cNvSpPr txBox="1"/>
          <p:nvPr/>
        </p:nvSpPr>
        <p:spPr>
          <a:xfrm>
            <a:off x="640080" y="1188720"/>
            <a:ext cx="4023360" cy="2029968"/>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Image hello-world tirée du Docker Hub</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docker run = pull + create + start</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Voir, arrêter, supprimer le conteneur</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Différence image / conteneur</a:t>
            </a:r>
            <a:endParaRPr lang="en-US" sz="1400" dirty="0"/>
          </a:p>
        </p:txBody>
      </p:sp>
      <p:sp>
        <p:nvSpPr>
          <p:cNvPr id="24" name="Shape 22"/>
          <p:cNvSpPr/>
          <p:nvPr/>
        </p:nvSpPr>
        <p:spPr>
          <a:xfrm>
            <a:off x="411480" y="3401568"/>
            <a:ext cx="4389120" cy="1005840"/>
          </a:xfrm>
          <a:prstGeom prst="rect">
            <a:avLst/>
          </a:prstGeom>
          <a:solidFill>
            <a:srgbClr val="0D1426"/>
          </a:solidFill>
          <a:ln w="12700">
            <a:solidFill>
              <a:srgbClr val="1E2B47"/>
            </a:solidFill>
            <a:prstDash val="solid"/>
          </a:ln>
        </p:spPr>
      </p:sp>
      <p:sp>
        <p:nvSpPr>
          <p:cNvPr id="25" name="Text 23"/>
          <p:cNvSpPr txBox="1"/>
          <p:nvPr/>
        </p:nvSpPr>
        <p:spPr>
          <a:xfrm>
            <a:off x="594360" y="3401568"/>
            <a:ext cx="4114800" cy="1005840"/>
          </a:xfrm>
          <a:prstGeom prst="rect">
            <a:avLst/>
          </a:prstGeom>
          <a:noFill/>
          <a:ln/>
        </p:spPr>
        <p:txBody>
          <a:bodyPr wrap="square" lIns="0" tIns="0" rIns="0" bIns="0" rtlCol="0" anchor="ctr"/>
          <a:lstStyle/>
          <a:p>
            <a:pPr indent="0" marL="0">
              <a:buNone/>
            </a:pPr>
            <a:r>
              <a:rPr lang="en-US" sz="1000" dirty="0">
                <a:solidFill>
                  <a:srgbClr val="34D399"/>
                </a:solidFill>
                <a:latin typeface="Courier New" pitchFamily="34" charset="0"/>
                <a:ea typeface="Courier New" pitchFamily="34" charset="-122"/>
                <a:cs typeface="Courier New" pitchFamily="34" charset="-120"/>
              </a:rPr>
              <a:t>$ docker run hello-world</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docker ps -a</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docker rm &lt;id&gt; ; docker rmi hello-world</a:t>
            </a:r>
            <a:endParaRPr lang="en-US" sz="1000" dirty="0"/>
          </a:p>
        </p:txBody>
      </p:sp>
      <p:pic>
        <p:nvPicPr>
          <p:cNvPr id="26" name="Image 0" descr="/tmp/job11/allimg/job02-hello-world.png">    </p:cNvPr>
          <p:cNvPicPr>
            <a:picLocks noChangeAspect="1"/>
          </p:cNvPicPr>
          <p:nvPr/>
        </p:nvPicPr>
        <p:blipFill>
          <a:blip r:embed="rId1"/>
          <a:stretch>
            <a:fillRect/>
          </a:stretch>
        </p:blipFill>
        <p:spPr>
          <a:xfrm>
            <a:off x="5074920" y="1254780"/>
            <a:ext cx="6675120" cy="4942799"/>
          </a:xfrm>
          <a:prstGeom prst="rect">
            <a:avLst/>
          </a:prstGeom>
        </p:spPr>
      </p:pic>
      <p:sp>
        <p:nvSpPr>
          <p:cNvPr id="27" name="Shape 24"/>
          <p:cNvSpPr/>
          <p:nvPr/>
        </p:nvSpPr>
        <p:spPr>
          <a:xfrm>
            <a:off x="5029200" y="1209060"/>
            <a:ext cx="164592" cy="0"/>
          </a:xfrm>
          <a:prstGeom prst="line">
            <a:avLst/>
          </a:prstGeom>
          <a:noFill/>
          <a:ln w="27940">
            <a:solidFill>
              <a:srgbClr val="F43F8E"/>
            </a:solidFill>
            <a:prstDash val="solid"/>
          </a:ln>
        </p:spPr>
      </p:sp>
      <p:sp>
        <p:nvSpPr>
          <p:cNvPr id="28" name="Shape 25"/>
          <p:cNvSpPr/>
          <p:nvPr/>
        </p:nvSpPr>
        <p:spPr>
          <a:xfrm>
            <a:off x="5029200" y="1209060"/>
            <a:ext cx="0" cy="164592"/>
          </a:xfrm>
          <a:prstGeom prst="line">
            <a:avLst/>
          </a:prstGeom>
          <a:noFill/>
          <a:ln w="27940">
            <a:solidFill>
              <a:srgbClr val="F43F8E"/>
            </a:solidFill>
            <a:prstDash val="solid"/>
          </a:ln>
        </p:spPr>
      </p:sp>
      <p:sp>
        <p:nvSpPr>
          <p:cNvPr id="29" name="Shape 26"/>
          <p:cNvSpPr/>
          <p:nvPr/>
        </p:nvSpPr>
        <p:spPr>
          <a:xfrm>
            <a:off x="11631168" y="6243300"/>
            <a:ext cx="164592" cy="0"/>
          </a:xfrm>
          <a:prstGeom prst="line">
            <a:avLst/>
          </a:prstGeom>
          <a:noFill/>
          <a:ln w="27940">
            <a:solidFill>
              <a:srgbClr val="22D3EE"/>
            </a:solidFill>
            <a:prstDash val="solid"/>
          </a:ln>
        </p:spPr>
      </p:sp>
      <p:sp>
        <p:nvSpPr>
          <p:cNvPr id="30" name="Shape 27"/>
          <p:cNvSpPr/>
          <p:nvPr/>
        </p:nvSpPr>
        <p:spPr>
          <a:xfrm>
            <a:off x="11795760" y="6078708"/>
            <a:ext cx="0" cy="164592"/>
          </a:xfrm>
          <a:prstGeom prst="line">
            <a:avLst/>
          </a:prstGeom>
          <a:noFill/>
          <a:ln w="27940">
            <a:solidFill>
              <a:srgbClr val="22D3EE"/>
            </a:solidFill>
            <a:prstDash val="solid"/>
          </a:ln>
        </p:spPr>
      </p:sp>
      <p:sp>
        <p:nvSpPr>
          <p:cNvPr id="31" name="Text 28"/>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2" name="Text 29"/>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03 — Image depuis un Dockerfile</a:t>
            </a:r>
            <a:endParaRPr lang="en-US" sz="2600" dirty="0"/>
          </a:p>
        </p:txBody>
      </p:sp>
      <p:sp>
        <p:nvSpPr>
          <p:cNvPr id="22" name="Shape 20"/>
          <p:cNvSpPr/>
          <p:nvPr/>
        </p:nvSpPr>
        <p:spPr>
          <a:xfrm>
            <a:off x="411480" y="1188720"/>
            <a:ext cx="4389120" cy="2029968"/>
          </a:xfrm>
          <a:prstGeom prst="rect">
            <a:avLst/>
          </a:prstGeom>
          <a:solidFill>
            <a:srgbClr val="111A2E"/>
          </a:solidFill>
          <a:ln w="12700">
            <a:solidFill>
              <a:srgbClr val="1E2B47"/>
            </a:solidFill>
            <a:prstDash val="solid"/>
          </a:ln>
        </p:spPr>
      </p:sp>
      <p:sp>
        <p:nvSpPr>
          <p:cNvPr id="23" name="Text 21"/>
          <p:cNvSpPr txBox="1"/>
          <p:nvPr/>
        </p:nvSpPr>
        <p:spPr>
          <a:xfrm>
            <a:off x="640080" y="1188720"/>
            <a:ext cx="4023360" cy="2029968"/>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Dockerfile : FROM debian, COPY message.txt, CMD cat</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docker build -t hello-debian .</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Le conteneur affiche le fichier</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diff : sortie identique à message.txt</a:t>
            </a:r>
            <a:endParaRPr lang="en-US" sz="1400" dirty="0"/>
          </a:p>
        </p:txBody>
      </p:sp>
      <p:sp>
        <p:nvSpPr>
          <p:cNvPr id="24" name="Shape 22"/>
          <p:cNvSpPr/>
          <p:nvPr/>
        </p:nvSpPr>
        <p:spPr>
          <a:xfrm>
            <a:off x="411480" y="3401568"/>
            <a:ext cx="4389120" cy="1005840"/>
          </a:xfrm>
          <a:prstGeom prst="rect">
            <a:avLst/>
          </a:prstGeom>
          <a:solidFill>
            <a:srgbClr val="0D1426"/>
          </a:solidFill>
          <a:ln w="12700">
            <a:solidFill>
              <a:srgbClr val="1E2B47"/>
            </a:solidFill>
            <a:prstDash val="solid"/>
          </a:ln>
        </p:spPr>
      </p:sp>
      <p:sp>
        <p:nvSpPr>
          <p:cNvPr id="25" name="Text 23"/>
          <p:cNvSpPr txBox="1"/>
          <p:nvPr/>
        </p:nvSpPr>
        <p:spPr>
          <a:xfrm>
            <a:off x="594360" y="3401568"/>
            <a:ext cx="4114800" cy="1005840"/>
          </a:xfrm>
          <a:prstGeom prst="rect">
            <a:avLst/>
          </a:prstGeom>
          <a:noFill/>
          <a:ln/>
        </p:spPr>
        <p:txBody>
          <a:bodyPr wrap="square" lIns="0" tIns="0" rIns="0" bIns="0" rtlCol="0" anchor="ctr"/>
          <a:lstStyle/>
          <a:p>
            <a:pPr indent="0" marL="0">
              <a:buNone/>
            </a:pPr>
            <a:r>
              <a:rPr lang="en-US" sz="1000" dirty="0">
                <a:solidFill>
                  <a:srgbClr val="34D399"/>
                </a:solidFill>
                <a:latin typeface="Courier New" pitchFamily="34" charset="0"/>
                <a:ea typeface="Courier New" pitchFamily="34" charset="-122"/>
                <a:cs typeface="Courier New" pitchFamily="34" charset="-120"/>
              </a:rPr>
              <a:t>$ docker build -t hello-debian .</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docker run --rm hello-debian</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docker run --rm hello-debian | diff - message.txt</a:t>
            </a:r>
            <a:endParaRPr lang="en-US" sz="1000" dirty="0"/>
          </a:p>
        </p:txBody>
      </p:sp>
      <p:pic>
        <p:nvPicPr>
          <p:cNvPr id="26" name="Image 0" descr="/tmp/job11/allimg/job03-build.png">    </p:cNvPr>
          <p:cNvPicPr>
            <a:picLocks noChangeAspect="1"/>
          </p:cNvPicPr>
          <p:nvPr/>
        </p:nvPicPr>
        <p:blipFill>
          <a:blip r:embed="rId1"/>
          <a:stretch>
            <a:fillRect/>
          </a:stretch>
        </p:blipFill>
        <p:spPr>
          <a:xfrm>
            <a:off x="5114721" y="1188720"/>
            <a:ext cx="6595519" cy="5074920"/>
          </a:xfrm>
          <a:prstGeom prst="rect">
            <a:avLst/>
          </a:prstGeom>
        </p:spPr>
      </p:pic>
      <p:sp>
        <p:nvSpPr>
          <p:cNvPr id="27" name="Shape 24"/>
          <p:cNvSpPr/>
          <p:nvPr/>
        </p:nvSpPr>
        <p:spPr>
          <a:xfrm>
            <a:off x="5069001" y="1143000"/>
            <a:ext cx="164592" cy="0"/>
          </a:xfrm>
          <a:prstGeom prst="line">
            <a:avLst/>
          </a:prstGeom>
          <a:noFill/>
          <a:ln w="27940">
            <a:solidFill>
              <a:srgbClr val="F43F8E"/>
            </a:solidFill>
            <a:prstDash val="solid"/>
          </a:ln>
        </p:spPr>
      </p:sp>
      <p:sp>
        <p:nvSpPr>
          <p:cNvPr id="28" name="Shape 25"/>
          <p:cNvSpPr/>
          <p:nvPr/>
        </p:nvSpPr>
        <p:spPr>
          <a:xfrm>
            <a:off x="5069001" y="1143000"/>
            <a:ext cx="0" cy="164592"/>
          </a:xfrm>
          <a:prstGeom prst="line">
            <a:avLst/>
          </a:prstGeom>
          <a:noFill/>
          <a:ln w="27940">
            <a:solidFill>
              <a:srgbClr val="F43F8E"/>
            </a:solidFill>
            <a:prstDash val="solid"/>
          </a:ln>
        </p:spPr>
      </p:sp>
      <p:sp>
        <p:nvSpPr>
          <p:cNvPr id="29" name="Shape 26"/>
          <p:cNvSpPr/>
          <p:nvPr/>
        </p:nvSpPr>
        <p:spPr>
          <a:xfrm>
            <a:off x="11591367" y="6309360"/>
            <a:ext cx="164592" cy="0"/>
          </a:xfrm>
          <a:prstGeom prst="line">
            <a:avLst/>
          </a:prstGeom>
          <a:noFill/>
          <a:ln w="27940">
            <a:solidFill>
              <a:srgbClr val="22D3EE"/>
            </a:solidFill>
            <a:prstDash val="solid"/>
          </a:ln>
        </p:spPr>
      </p:sp>
      <p:sp>
        <p:nvSpPr>
          <p:cNvPr id="30" name="Shape 27"/>
          <p:cNvSpPr/>
          <p:nvPr/>
        </p:nvSpPr>
        <p:spPr>
          <a:xfrm>
            <a:off x="11755959" y="6144768"/>
            <a:ext cx="0" cy="164592"/>
          </a:xfrm>
          <a:prstGeom prst="line">
            <a:avLst/>
          </a:prstGeom>
          <a:noFill/>
          <a:ln w="27940">
            <a:solidFill>
              <a:srgbClr val="22D3EE"/>
            </a:solidFill>
            <a:prstDash val="solid"/>
          </a:ln>
        </p:spPr>
      </p:sp>
      <p:sp>
        <p:nvSpPr>
          <p:cNvPr id="31" name="Text 28"/>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2" name="Text 29"/>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03 — Image depuis un Dockerfile (suite)</a:t>
            </a:r>
            <a:endParaRPr lang="en-US" sz="2600" dirty="0"/>
          </a:p>
        </p:txBody>
      </p:sp>
      <p:pic>
        <p:nvPicPr>
          <p:cNvPr id="22" name="Image 0" descr="/tmp/job11/allimg/job03-diff-identique.png">    </p:cNvPr>
          <p:cNvPicPr>
            <a:picLocks noChangeAspect="1"/>
          </p:cNvPicPr>
          <p:nvPr/>
        </p:nvPicPr>
        <p:blipFill>
          <a:blip r:embed="rId1"/>
          <a:stretch>
            <a:fillRect/>
          </a:stretch>
        </p:blipFill>
        <p:spPr>
          <a:xfrm>
            <a:off x="2685570" y="1188720"/>
            <a:ext cx="6790380" cy="5029200"/>
          </a:xfrm>
          <a:prstGeom prst="rect">
            <a:avLst/>
          </a:prstGeom>
        </p:spPr>
      </p:pic>
      <p:sp>
        <p:nvSpPr>
          <p:cNvPr id="23" name="Shape 20"/>
          <p:cNvSpPr/>
          <p:nvPr/>
        </p:nvSpPr>
        <p:spPr>
          <a:xfrm>
            <a:off x="2639850" y="1143000"/>
            <a:ext cx="164592" cy="0"/>
          </a:xfrm>
          <a:prstGeom prst="line">
            <a:avLst/>
          </a:prstGeom>
          <a:noFill/>
          <a:ln w="27940">
            <a:solidFill>
              <a:srgbClr val="F43F8E"/>
            </a:solidFill>
            <a:prstDash val="solid"/>
          </a:ln>
        </p:spPr>
      </p:sp>
      <p:sp>
        <p:nvSpPr>
          <p:cNvPr id="24" name="Shape 21"/>
          <p:cNvSpPr/>
          <p:nvPr/>
        </p:nvSpPr>
        <p:spPr>
          <a:xfrm>
            <a:off x="2639850" y="1143000"/>
            <a:ext cx="0" cy="164592"/>
          </a:xfrm>
          <a:prstGeom prst="line">
            <a:avLst/>
          </a:prstGeom>
          <a:noFill/>
          <a:ln w="27940">
            <a:solidFill>
              <a:srgbClr val="F43F8E"/>
            </a:solidFill>
            <a:prstDash val="solid"/>
          </a:ln>
        </p:spPr>
      </p:sp>
      <p:sp>
        <p:nvSpPr>
          <p:cNvPr id="25" name="Shape 22"/>
          <p:cNvSpPr/>
          <p:nvPr/>
        </p:nvSpPr>
        <p:spPr>
          <a:xfrm>
            <a:off x="9357078" y="6263640"/>
            <a:ext cx="164592" cy="0"/>
          </a:xfrm>
          <a:prstGeom prst="line">
            <a:avLst/>
          </a:prstGeom>
          <a:noFill/>
          <a:ln w="27940">
            <a:solidFill>
              <a:srgbClr val="22D3EE"/>
            </a:solidFill>
            <a:prstDash val="solid"/>
          </a:ln>
        </p:spPr>
      </p:sp>
      <p:sp>
        <p:nvSpPr>
          <p:cNvPr id="26" name="Shape 23"/>
          <p:cNvSpPr/>
          <p:nvPr/>
        </p:nvSpPr>
        <p:spPr>
          <a:xfrm>
            <a:off x="9521670" y="6099048"/>
            <a:ext cx="0" cy="164592"/>
          </a:xfrm>
          <a:prstGeom prst="line">
            <a:avLst/>
          </a:prstGeom>
          <a:noFill/>
          <a:ln w="27940">
            <a:solidFill>
              <a:srgbClr val="22D3EE"/>
            </a:solidFill>
            <a:prstDash val="solid"/>
          </a:ln>
        </p:spPr>
      </p:sp>
      <p:sp>
        <p:nvSpPr>
          <p:cNvPr id="27" name="Text 24"/>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28" name="Text 25"/>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04 — Conteneur SSH</a:t>
            </a:r>
            <a:endParaRPr lang="en-US" sz="2600" dirty="0"/>
          </a:p>
        </p:txBody>
      </p:sp>
      <p:sp>
        <p:nvSpPr>
          <p:cNvPr id="22" name="Shape 20"/>
          <p:cNvSpPr/>
          <p:nvPr/>
        </p:nvSpPr>
        <p:spPr>
          <a:xfrm>
            <a:off x="411480" y="1188720"/>
            <a:ext cx="4389120" cy="2029968"/>
          </a:xfrm>
          <a:prstGeom prst="rect">
            <a:avLst/>
          </a:prstGeom>
          <a:solidFill>
            <a:srgbClr val="111A2E"/>
          </a:solidFill>
          <a:ln w="12700">
            <a:solidFill>
              <a:srgbClr val="1E2B47"/>
            </a:solidFill>
            <a:prstDash val="solid"/>
          </a:ln>
        </p:spPr>
      </p:sp>
      <p:sp>
        <p:nvSpPr>
          <p:cNvPr id="23" name="Text 21"/>
          <p:cNvSpPr txBox="1"/>
          <p:nvPr/>
        </p:nvSpPr>
        <p:spPr>
          <a:xfrm>
            <a:off x="640080" y="1188720"/>
            <a:ext cx="4023360" cy="2029968"/>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Dockerfile : debian + openssh-server</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Utilisateur créé, EXPOSE 22</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Port publié : -p 2222:22</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Connexion ssh depuis la VM</a:t>
            </a:r>
            <a:endParaRPr lang="en-US" sz="1400" dirty="0"/>
          </a:p>
        </p:txBody>
      </p:sp>
      <p:sp>
        <p:nvSpPr>
          <p:cNvPr id="24" name="Shape 22"/>
          <p:cNvSpPr/>
          <p:nvPr/>
        </p:nvSpPr>
        <p:spPr>
          <a:xfrm>
            <a:off x="411480" y="3401568"/>
            <a:ext cx="4389120" cy="1005840"/>
          </a:xfrm>
          <a:prstGeom prst="rect">
            <a:avLst/>
          </a:prstGeom>
          <a:solidFill>
            <a:srgbClr val="0D1426"/>
          </a:solidFill>
          <a:ln w="12700">
            <a:solidFill>
              <a:srgbClr val="1E2B47"/>
            </a:solidFill>
            <a:prstDash val="solid"/>
          </a:ln>
        </p:spPr>
      </p:sp>
      <p:sp>
        <p:nvSpPr>
          <p:cNvPr id="25" name="Text 23"/>
          <p:cNvSpPr txBox="1"/>
          <p:nvPr/>
        </p:nvSpPr>
        <p:spPr>
          <a:xfrm>
            <a:off x="594360" y="3401568"/>
            <a:ext cx="4114800" cy="1005840"/>
          </a:xfrm>
          <a:prstGeom prst="rect">
            <a:avLst/>
          </a:prstGeom>
          <a:noFill/>
          <a:ln/>
        </p:spPr>
        <p:txBody>
          <a:bodyPr wrap="square" lIns="0" tIns="0" rIns="0" bIns="0" rtlCol="0" anchor="ctr"/>
          <a:lstStyle/>
          <a:p>
            <a:pPr indent="0" marL="0">
              <a:buNone/>
            </a:pPr>
            <a:r>
              <a:rPr lang="en-US" sz="1000" dirty="0">
                <a:solidFill>
                  <a:srgbClr val="34D399"/>
                </a:solidFill>
                <a:latin typeface="Courier New" pitchFamily="34" charset="0"/>
                <a:ea typeface="Courier New" pitchFamily="34" charset="-122"/>
                <a:cs typeface="Courier New" pitchFamily="34" charset="-120"/>
              </a:rPr>
              <a:t>$ docker build -t ssh-debian .</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docker run -d -p 2222:22 --name ssh-test ssh-debian</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ssh -p 2222 user@localhost</a:t>
            </a:r>
            <a:endParaRPr lang="en-US" sz="1000" dirty="0"/>
          </a:p>
        </p:txBody>
      </p:sp>
      <p:pic>
        <p:nvPicPr>
          <p:cNvPr id="26" name="Image 0" descr="/tmp/job11/allimg/job04-build-run-ssh.png">    </p:cNvPr>
          <p:cNvPicPr>
            <a:picLocks noChangeAspect="1"/>
          </p:cNvPicPr>
          <p:nvPr/>
        </p:nvPicPr>
        <p:blipFill>
          <a:blip r:embed="rId1"/>
          <a:stretch>
            <a:fillRect/>
          </a:stretch>
        </p:blipFill>
        <p:spPr>
          <a:xfrm>
            <a:off x="5074920" y="1333339"/>
            <a:ext cx="6675120" cy="3779842"/>
          </a:xfrm>
          <a:prstGeom prst="rect">
            <a:avLst/>
          </a:prstGeom>
        </p:spPr>
      </p:pic>
      <p:sp>
        <p:nvSpPr>
          <p:cNvPr id="27" name="Shape 24"/>
          <p:cNvSpPr/>
          <p:nvPr/>
        </p:nvSpPr>
        <p:spPr>
          <a:xfrm>
            <a:off x="5029200" y="1287619"/>
            <a:ext cx="164592" cy="0"/>
          </a:xfrm>
          <a:prstGeom prst="line">
            <a:avLst/>
          </a:prstGeom>
          <a:noFill/>
          <a:ln w="27940">
            <a:solidFill>
              <a:srgbClr val="F43F8E"/>
            </a:solidFill>
            <a:prstDash val="solid"/>
          </a:ln>
        </p:spPr>
      </p:sp>
      <p:sp>
        <p:nvSpPr>
          <p:cNvPr id="28" name="Shape 25"/>
          <p:cNvSpPr/>
          <p:nvPr/>
        </p:nvSpPr>
        <p:spPr>
          <a:xfrm>
            <a:off x="5029200" y="1287619"/>
            <a:ext cx="0" cy="164592"/>
          </a:xfrm>
          <a:prstGeom prst="line">
            <a:avLst/>
          </a:prstGeom>
          <a:noFill/>
          <a:ln w="27940">
            <a:solidFill>
              <a:srgbClr val="F43F8E"/>
            </a:solidFill>
            <a:prstDash val="solid"/>
          </a:ln>
        </p:spPr>
      </p:sp>
      <p:sp>
        <p:nvSpPr>
          <p:cNvPr id="29" name="Shape 26"/>
          <p:cNvSpPr/>
          <p:nvPr/>
        </p:nvSpPr>
        <p:spPr>
          <a:xfrm>
            <a:off x="11631168" y="5158901"/>
            <a:ext cx="164592" cy="0"/>
          </a:xfrm>
          <a:prstGeom prst="line">
            <a:avLst/>
          </a:prstGeom>
          <a:noFill/>
          <a:ln w="27940">
            <a:solidFill>
              <a:srgbClr val="22D3EE"/>
            </a:solidFill>
            <a:prstDash val="solid"/>
          </a:ln>
        </p:spPr>
      </p:sp>
      <p:sp>
        <p:nvSpPr>
          <p:cNvPr id="30" name="Shape 27"/>
          <p:cNvSpPr/>
          <p:nvPr/>
        </p:nvSpPr>
        <p:spPr>
          <a:xfrm>
            <a:off x="11795760" y="4994309"/>
            <a:ext cx="0" cy="164592"/>
          </a:xfrm>
          <a:prstGeom prst="line">
            <a:avLst/>
          </a:prstGeom>
          <a:noFill/>
          <a:ln w="27940">
            <a:solidFill>
              <a:srgbClr val="22D3EE"/>
            </a:solidFill>
            <a:prstDash val="solid"/>
          </a:ln>
        </p:spPr>
      </p:sp>
      <p:sp>
        <p:nvSpPr>
          <p:cNvPr id="31" name="Shape 28"/>
          <p:cNvSpPr/>
          <p:nvPr/>
        </p:nvSpPr>
        <p:spPr>
          <a:xfrm>
            <a:off x="411480" y="5486400"/>
            <a:ext cx="11338560" cy="731520"/>
          </a:xfrm>
          <a:prstGeom prst="rect">
            <a:avLst/>
          </a:prstGeom>
          <a:solidFill>
            <a:srgbClr val="1A0F1E"/>
          </a:solidFill>
          <a:ln w="15875">
            <a:solidFill>
              <a:srgbClr val="F43F8E"/>
            </a:solidFill>
            <a:prstDash val="solid"/>
          </a:ln>
        </p:spPr>
      </p:sp>
      <p:sp>
        <p:nvSpPr>
          <p:cNvPr id="32" name="Text 29"/>
          <p:cNvSpPr txBox="1"/>
          <p:nvPr/>
        </p:nvSpPr>
        <p:spPr>
          <a:xfrm>
            <a:off x="640080" y="5532120"/>
            <a:ext cx="3657600" cy="256032"/>
          </a:xfrm>
          <a:prstGeom prst="rect">
            <a:avLst/>
          </a:prstGeom>
          <a:noFill/>
          <a:ln/>
        </p:spPr>
        <p:txBody>
          <a:bodyPr wrap="square" lIns="0" tIns="0" rIns="0" bIns="0" rtlCol="0" anchor="ctr"/>
          <a:lstStyle/>
          <a:p>
            <a:pPr indent="0" marL="0">
              <a:buNone/>
            </a:pPr>
            <a:r>
              <a:rPr lang="en-US" sz="1100" b="1" spc="300" kern="0" dirty="0">
                <a:solidFill>
                  <a:srgbClr val="F43F8E"/>
                </a:solidFill>
                <a:latin typeface="Calibri" pitchFamily="34" charset="0"/>
                <a:ea typeface="Calibri" pitchFamily="34" charset="-122"/>
                <a:cs typeface="Calibri" pitchFamily="34" charset="-120"/>
              </a:rPr>
              <a:t>⚡ PROBLÈME RÉSOLU</a:t>
            </a:r>
            <a:endParaRPr lang="en-US" sz="1100" dirty="0"/>
          </a:p>
        </p:txBody>
      </p:sp>
      <p:sp>
        <p:nvSpPr>
          <p:cNvPr id="33" name="Text 30"/>
          <p:cNvSpPr txBox="1"/>
          <p:nvPr/>
        </p:nvSpPr>
        <p:spPr>
          <a:xfrm>
            <a:off x="640080" y="5806440"/>
            <a:ext cx="10881360" cy="365760"/>
          </a:xfrm>
          <a:prstGeom prst="rect">
            <a:avLst/>
          </a:prstGeom>
          <a:noFill/>
          <a:ln/>
        </p:spPr>
        <p:txBody>
          <a:bodyPr wrap="square" lIns="0" tIns="0" rIns="0" bIns="0" rtlCol="0" anchor="ctr"/>
          <a:lstStyle/>
          <a:p>
            <a:pPr indent="0" marL="0">
              <a:buNone/>
            </a:pPr>
            <a:r>
              <a:rPr lang="en-US" sz="1250" b="1" dirty="0">
                <a:solidFill>
                  <a:srgbClr val="F43F8E"/>
                </a:solidFill>
                <a:latin typeface="Calibri" pitchFamily="34" charset="0"/>
                <a:ea typeface="Calibri" pitchFamily="34" charset="-122"/>
                <a:cs typeface="Calibri" pitchFamily="34" charset="-120"/>
              </a:rPr>
              <a:t>Symptôme  </a:t>
            </a:r>
            <a:pPr indent="0" marL="0">
              <a:buNone/>
            </a:pPr>
            <a:r>
              <a:rPr lang="en-US" sz="1250" dirty="0">
                <a:solidFill>
                  <a:srgbClr val="E6EDF7"/>
                </a:solidFill>
                <a:latin typeface="Calibri" pitchFamily="34" charset="0"/>
                <a:ea typeface="Calibri" pitchFamily="34" charset="-122"/>
                <a:cs typeface="Calibri" pitchFamily="34" charset="-120"/>
              </a:rPr>
              <a:t>scp lancé depuis le conteneur, ou ssh vers « ip_vm » non résolu     </a:t>
            </a:r>
            <a:pPr indent="0" marL="0">
              <a:buNone/>
            </a:pPr>
            <a:r>
              <a:rPr lang="en-US" sz="1250" b="1" dirty="0">
                <a:solidFill>
                  <a:srgbClr val="34D399"/>
                </a:solidFill>
                <a:latin typeface="Calibri" pitchFamily="34" charset="0"/>
                <a:ea typeface="Calibri" pitchFamily="34" charset="-122"/>
                <a:cs typeface="Calibri" pitchFamily="34" charset="-120"/>
              </a:rPr>
              <a:t>Solution  </a:t>
            </a:r>
            <a:pPr indent="0" marL="0">
              <a:buNone/>
            </a:pPr>
            <a:r>
              <a:rPr lang="en-US" sz="1250" dirty="0">
                <a:solidFill>
                  <a:srgbClr val="E6EDF7"/>
                </a:solidFill>
                <a:latin typeface="Calibri" pitchFamily="34" charset="0"/>
                <a:ea typeface="Calibri" pitchFamily="34" charset="-122"/>
                <a:cs typeface="Calibri" pitchFamily="34" charset="-120"/>
              </a:rPr>
              <a:t>Commandes exécutées depuis la VM / le PC, avec la vraie adresse IP</a:t>
            </a:r>
            <a:endParaRPr lang="en-US" sz="1250" dirty="0"/>
          </a:p>
        </p:txBody>
      </p:sp>
      <p:sp>
        <p:nvSpPr>
          <p:cNvPr id="34" name="Text 31"/>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5" name="Text 32"/>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04 — Conteneur SSH (suite)</a:t>
            </a:r>
            <a:endParaRPr lang="en-US" sz="2600" dirty="0"/>
          </a:p>
        </p:txBody>
      </p:sp>
      <p:pic>
        <p:nvPicPr>
          <p:cNvPr id="22" name="Image 0" descr="/tmp/job11/allimg/job04-ssh-localhost.png">    </p:cNvPr>
          <p:cNvPicPr>
            <a:picLocks noChangeAspect="1"/>
          </p:cNvPicPr>
          <p:nvPr/>
        </p:nvPicPr>
        <p:blipFill>
          <a:blip r:embed="rId1"/>
          <a:stretch>
            <a:fillRect/>
          </a:stretch>
        </p:blipFill>
        <p:spPr>
          <a:xfrm>
            <a:off x="2899608" y="1188720"/>
            <a:ext cx="6362304" cy="5029200"/>
          </a:xfrm>
          <a:prstGeom prst="rect">
            <a:avLst/>
          </a:prstGeom>
        </p:spPr>
      </p:pic>
      <p:sp>
        <p:nvSpPr>
          <p:cNvPr id="23" name="Shape 20"/>
          <p:cNvSpPr/>
          <p:nvPr/>
        </p:nvSpPr>
        <p:spPr>
          <a:xfrm>
            <a:off x="2853888" y="1143000"/>
            <a:ext cx="164592" cy="0"/>
          </a:xfrm>
          <a:prstGeom prst="line">
            <a:avLst/>
          </a:prstGeom>
          <a:noFill/>
          <a:ln w="27940">
            <a:solidFill>
              <a:srgbClr val="F43F8E"/>
            </a:solidFill>
            <a:prstDash val="solid"/>
          </a:ln>
        </p:spPr>
      </p:sp>
      <p:sp>
        <p:nvSpPr>
          <p:cNvPr id="24" name="Shape 21"/>
          <p:cNvSpPr/>
          <p:nvPr/>
        </p:nvSpPr>
        <p:spPr>
          <a:xfrm>
            <a:off x="2853888" y="1143000"/>
            <a:ext cx="0" cy="164592"/>
          </a:xfrm>
          <a:prstGeom prst="line">
            <a:avLst/>
          </a:prstGeom>
          <a:noFill/>
          <a:ln w="27940">
            <a:solidFill>
              <a:srgbClr val="F43F8E"/>
            </a:solidFill>
            <a:prstDash val="solid"/>
          </a:ln>
        </p:spPr>
      </p:sp>
      <p:sp>
        <p:nvSpPr>
          <p:cNvPr id="25" name="Shape 22"/>
          <p:cNvSpPr/>
          <p:nvPr/>
        </p:nvSpPr>
        <p:spPr>
          <a:xfrm>
            <a:off x="9143040" y="6263640"/>
            <a:ext cx="164592" cy="0"/>
          </a:xfrm>
          <a:prstGeom prst="line">
            <a:avLst/>
          </a:prstGeom>
          <a:noFill/>
          <a:ln w="27940">
            <a:solidFill>
              <a:srgbClr val="22D3EE"/>
            </a:solidFill>
            <a:prstDash val="solid"/>
          </a:ln>
        </p:spPr>
      </p:sp>
      <p:sp>
        <p:nvSpPr>
          <p:cNvPr id="26" name="Shape 23"/>
          <p:cNvSpPr/>
          <p:nvPr/>
        </p:nvSpPr>
        <p:spPr>
          <a:xfrm>
            <a:off x="9307632" y="6099048"/>
            <a:ext cx="0" cy="164592"/>
          </a:xfrm>
          <a:prstGeom prst="line">
            <a:avLst/>
          </a:prstGeom>
          <a:noFill/>
          <a:ln w="27940">
            <a:solidFill>
              <a:srgbClr val="22D3EE"/>
            </a:solidFill>
            <a:prstDash val="solid"/>
          </a:ln>
        </p:spPr>
      </p:sp>
      <p:sp>
        <p:nvSpPr>
          <p:cNvPr id="27" name="Text 24"/>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28" name="Text 25"/>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05 — Alias des commandes Docker</a:t>
            </a:r>
            <a:endParaRPr lang="en-US" sz="2600" dirty="0"/>
          </a:p>
        </p:txBody>
      </p:sp>
      <p:sp>
        <p:nvSpPr>
          <p:cNvPr id="22" name="Shape 20"/>
          <p:cNvSpPr/>
          <p:nvPr/>
        </p:nvSpPr>
        <p:spPr>
          <a:xfrm>
            <a:off x="411480" y="1188720"/>
            <a:ext cx="4389120" cy="2029968"/>
          </a:xfrm>
          <a:prstGeom prst="rect">
            <a:avLst/>
          </a:prstGeom>
          <a:solidFill>
            <a:srgbClr val="111A2E"/>
          </a:solidFill>
          <a:ln w="12700">
            <a:solidFill>
              <a:srgbClr val="1E2B47"/>
            </a:solidFill>
            <a:prstDash val="solid"/>
          </a:ln>
        </p:spPr>
      </p:sp>
      <p:sp>
        <p:nvSpPr>
          <p:cNvPr id="23" name="Text 21"/>
          <p:cNvSpPr txBox="1"/>
          <p:nvPr/>
        </p:nvSpPr>
        <p:spPr>
          <a:xfrm>
            <a:off x="640080" y="1188720"/>
            <a:ext cx="4023360" cy="2029968"/>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Raccourcis pour les commandes CLI fréquentes</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Définis dans ~/.bashrc</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Rechargés avec source ~/.bashrc</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Gain de temps au quotidien</a:t>
            </a:r>
            <a:endParaRPr lang="en-US" sz="1400" dirty="0"/>
          </a:p>
        </p:txBody>
      </p:sp>
      <p:sp>
        <p:nvSpPr>
          <p:cNvPr id="24" name="Shape 22"/>
          <p:cNvSpPr/>
          <p:nvPr/>
        </p:nvSpPr>
        <p:spPr>
          <a:xfrm>
            <a:off x="411480" y="3401568"/>
            <a:ext cx="4389120" cy="1005840"/>
          </a:xfrm>
          <a:prstGeom prst="rect">
            <a:avLst/>
          </a:prstGeom>
          <a:solidFill>
            <a:srgbClr val="0D1426"/>
          </a:solidFill>
          <a:ln w="12700">
            <a:solidFill>
              <a:srgbClr val="1E2B47"/>
            </a:solidFill>
            <a:prstDash val="solid"/>
          </a:ln>
        </p:spPr>
      </p:sp>
      <p:sp>
        <p:nvSpPr>
          <p:cNvPr id="25" name="Text 23"/>
          <p:cNvSpPr txBox="1"/>
          <p:nvPr/>
        </p:nvSpPr>
        <p:spPr>
          <a:xfrm>
            <a:off x="594360" y="3401568"/>
            <a:ext cx="4114800" cy="1005840"/>
          </a:xfrm>
          <a:prstGeom prst="rect">
            <a:avLst/>
          </a:prstGeom>
          <a:noFill/>
          <a:ln/>
        </p:spPr>
        <p:txBody>
          <a:bodyPr wrap="square" lIns="0" tIns="0" rIns="0" bIns="0" rtlCol="0" anchor="ctr"/>
          <a:lstStyle/>
          <a:p>
            <a:pPr indent="0" marL="0">
              <a:buNone/>
            </a:pPr>
            <a:r>
              <a:rPr lang="en-US" sz="1000" dirty="0">
                <a:solidFill>
                  <a:srgbClr val="34D399"/>
                </a:solidFill>
                <a:latin typeface="Courier New" pitchFamily="34" charset="0"/>
                <a:ea typeface="Courier New" pitchFamily="34" charset="-122"/>
                <a:cs typeface="Courier New" pitchFamily="34" charset="-120"/>
              </a:rPr>
              <a:t>$ alias dps='docker ps'</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alias dpa='docker ps -a'</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source ~/.bashrc</a:t>
            </a:r>
            <a:endParaRPr lang="en-US" sz="1000" dirty="0"/>
          </a:p>
        </p:txBody>
      </p:sp>
      <p:pic>
        <p:nvPicPr>
          <p:cNvPr id="26" name="Image 0" descr="/tmp/job11/allimg/job05-alias-bashrc.png">    </p:cNvPr>
          <p:cNvPicPr>
            <a:picLocks noChangeAspect="1"/>
          </p:cNvPicPr>
          <p:nvPr/>
        </p:nvPicPr>
        <p:blipFill>
          <a:blip r:embed="rId1"/>
          <a:stretch>
            <a:fillRect/>
          </a:stretch>
        </p:blipFill>
        <p:spPr>
          <a:xfrm>
            <a:off x="7279774" y="1188720"/>
            <a:ext cx="2265413" cy="2400300"/>
          </a:xfrm>
          <a:prstGeom prst="rect">
            <a:avLst/>
          </a:prstGeom>
        </p:spPr>
      </p:pic>
      <p:sp>
        <p:nvSpPr>
          <p:cNvPr id="27" name="Shape 24"/>
          <p:cNvSpPr/>
          <p:nvPr/>
        </p:nvSpPr>
        <p:spPr>
          <a:xfrm>
            <a:off x="7234054" y="1143000"/>
            <a:ext cx="164592" cy="0"/>
          </a:xfrm>
          <a:prstGeom prst="line">
            <a:avLst/>
          </a:prstGeom>
          <a:noFill/>
          <a:ln w="27940">
            <a:solidFill>
              <a:srgbClr val="F43F8E"/>
            </a:solidFill>
            <a:prstDash val="solid"/>
          </a:ln>
        </p:spPr>
      </p:sp>
      <p:sp>
        <p:nvSpPr>
          <p:cNvPr id="28" name="Shape 25"/>
          <p:cNvSpPr/>
          <p:nvPr/>
        </p:nvSpPr>
        <p:spPr>
          <a:xfrm>
            <a:off x="7234054" y="1143000"/>
            <a:ext cx="0" cy="164592"/>
          </a:xfrm>
          <a:prstGeom prst="line">
            <a:avLst/>
          </a:prstGeom>
          <a:noFill/>
          <a:ln w="27940">
            <a:solidFill>
              <a:srgbClr val="F43F8E"/>
            </a:solidFill>
            <a:prstDash val="solid"/>
          </a:ln>
        </p:spPr>
      </p:sp>
      <p:sp>
        <p:nvSpPr>
          <p:cNvPr id="29" name="Shape 26"/>
          <p:cNvSpPr/>
          <p:nvPr/>
        </p:nvSpPr>
        <p:spPr>
          <a:xfrm>
            <a:off x="9426314" y="3634740"/>
            <a:ext cx="164592" cy="0"/>
          </a:xfrm>
          <a:prstGeom prst="line">
            <a:avLst/>
          </a:prstGeom>
          <a:noFill/>
          <a:ln w="27940">
            <a:solidFill>
              <a:srgbClr val="22D3EE"/>
            </a:solidFill>
            <a:prstDash val="solid"/>
          </a:ln>
        </p:spPr>
      </p:sp>
      <p:sp>
        <p:nvSpPr>
          <p:cNvPr id="30" name="Shape 27"/>
          <p:cNvSpPr/>
          <p:nvPr/>
        </p:nvSpPr>
        <p:spPr>
          <a:xfrm>
            <a:off x="9590906" y="3470148"/>
            <a:ext cx="0" cy="164592"/>
          </a:xfrm>
          <a:prstGeom prst="line">
            <a:avLst/>
          </a:prstGeom>
          <a:noFill/>
          <a:ln w="27940">
            <a:solidFill>
              <a:srgbClr val="22D3EE"/>
            </a:solidFill>
            <a:prstDash val="solid"/>
          </a:ln>
        </p:spPr>
      </p:sp>
      <p:pic>
        <p:nvPicPr>
          <p:cNvPr id="31" name="Image 1" descr="/tmp/job11/allimg/job05-alias-usage.png">    </p:cNvPr>
          <p:cNvPicPr>
            <a:picLocks noChangeAspect="1"/>
          </p:cNvPicPr>
          <p:nvPr/>
        </p:nvPicPr>
        <p:blipFill>
          <a:blip r:embed="rId2"/>
          <a:stretch>
            <a:fillRect/>
          </a:stretch>
        </p:blipFill>
        <p:spPr>
          <a:xfrm>
            <a:off x="5346321" y="3863340"/>
            <a:ext cx="6132317" cy="2400300"/>
          </a:xfrm>
          <a:prstGeom prst="rect">
            <a:avLst/>
          </a:prstGeom>
        </p:spPr>
      </p:pic>
      <p:sp>
        <p:nvSpPr>
          <p:cNvPr id="32" name="Shape 28"/>
          <p:cNvSpPr/>
          <p:nvPr/>
        </p:nvSpPr>
        <p:spPr>
          <a:xfrm>
            <a:off x="5300601" y="3817620"/>
            <a:ext cx="164592" cy="0"/>
          </a:xfrm>
          <a:prstGeom prst="line">
            <a:avLst/>
          </a:prstGeom>
          <a:noFill/>
          <a:ln w="27940">
            <a:solidFill>
              <a:srgbClr val="F43F8E"/>
            </a:solidFill>
            <a:prstDash val="solid"/>
          </a:ln>
        </p:spPr>
      </p:sp>
      <p:sp>
        <p:nvSpPr>
          <p:cNvPr id="33" name="Shape 29"/>
          <p:cNvSpPr/>
          <p:nvPr/>
        </p:nvSpPr>
        <p:spPr>
          <a:xfrm>
            <a:off x="5300601" y="3817620"/>
            <a:ext cx="0" cy="164592"/>
          </a:xfrm>
          <a:prstGeom prst="line">
            <a:avLst/>
          </a:prstGeom>
          <a:noFill/>
          <a:ln w="27940">
            <a:solidFill>
              <a:srgbClr val="F43F8E"/>
            </a:solidFill>
            <a:prstDash val="solid"/>
          </a:ln>
        </p:spPr>
      </p:sp>
      <p:sp>
        <p:nvSpPr>
          <p:cNvPr id="34" name="Shape 30"/>
          <p:cNvSpPr/>
          <p:nvPr/>
        </p:nvSpPr>
        <p:spPr>
          <a:xfrm>
            <a:off x="11359767" y="6309360"/>
            <a:ext cx="164592" cy="0"/>
          </a:xfrm>
          <a:prstGeom prst="line">
            <a:avLst/>
          </a:prstGeom>
          <a:noFill/>
          <a:ln w="27940">
            <a:solidFill>
              <a:srgbClr val="22D3EE"/>
            </a:solidFill>
            <a:prstDash val="solid"/>
          </a:ln>
        </p:spPr>
      </p:sp>
      <p:sp>
        <p:nvSpPr>
          <p:cNvPr id="35" name="Shape 31"/>
          <p:cNvSpPr/>
          <p:nvPr/>
        </p:nvSpPr>
        <p:spPr>
          <a:xfrm>
            <a:off x="11524359" y="6144768"/>
            <a:ext cx="0" cy="164592"/>
          </a:xfrm>
          <a:prstGeom prst="line">
            <a:avLst/>
          </a:prstGeom>
          <a:noFill/>
          <a:ln w="27940">
            <a:solidFill>
              <a:srgbClr val="22D3EE"/>
            </a:solidFill>
            <a:prstDash val="solid"/>
          </a:ln>
        </p:spPr>
      </p:sp>
      <p:sp>
        <p:nvSpPr>
          <p:cNvPr id="36" name="Text 32"/>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7" name="Text 33"/>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06 — Volumes</a:t>
            </a:r>
            <a:endParaRPr lang="en-US" sz="2600" dirty="0"/>
          </a:p>
        </p:txBody>
      </p:sp>
      <p:sp>
        <p:nvSpPr>
          <p:cNvPr id="22" name="Shape 20"/>
          <p:cNvSpPr/>
          <p:nvPr/>
        </p:nvSpPr>
        <p:spPr>
          <a:xfrm>
            <a:off x="411480" y="1188720"/>
            <a:ext cx="4389120" cy="2029968"/>
          </a:xfrm>
          <a:prstGeom prst="rect">
            <a:avLst/>
          </a:prstGeom>
          <a:solidFill>
            <a:srgbClr val="111A2E"/>
          </a:solidFill>
          <a:ln w="12700">
            <a:solidFill>
              <a:srgbClr val="1E2B47"/>
            </a:solidFill>
            <a:prstDash val="solid"/>
          </a:ln>
        </p:spPr>
      </p:sp>
      <p:sp>
        <p:nvSpPr>
          <p:cNvPr id="23" name="Text 21"/>
          <p:cNvSpPr txBox="1"/>
          <p:nvPr/>
        </p:nvSpPr>
        <p:spPr>
          <a:xfrm>
            <a:off x="640080" y="1188720"/>
            <a:ext cx="4023360" cy="2029968"/>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Volume nommé mon-volume</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Monté dans deux conteneurs c1 et c2</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Ce que c1 écrit, c2 le lit</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Les données survivent à la suppression du conteneur</a:t>
            </a:r>
            <a:endParaRPr lang="en-US" sz="1400" dirty="0"/>
          </a:p>
        </p:txBody>
      </p:sp>
      <p:sp>
        <p:nvSpPr>
          <p:cNvPr id="24" name="Shape 22"/>
          <p:cNvSpPr/>
          <p:nvPr/>
        </p:nvSpPr>
        <p:spPr>
          <a:xfrm>
            <a:off x="411480" y="3401568"/>
            <a:ext cx="4389120" cy="1005840"/>
          </a:xfrm>
          <a:prstGeom prst="rect">
            <a:avLst/>
          </a:prstGeom>
          <a:solidFill>
            <a:srgbClr val="0D1426"/>
          </a:solidFill>
          <a:ln w="12700">
            <a:solidFill>
              <a:srgbClr val="1E2B47"/>
            </a:solidFill>
            <a:prstDash val="solid"/>
          </a:ln>
        </p:spPr>
      </p:sp>
      <p:sp>
        <p:nvSpPr>
          <p:cNvPr id="25" name="Text 23"/>
          <p:cNvSpPr txBox="1"/>
          <p:nvPr/>
        </p:nvSpPr>
        <p:spPr>
          <a:xfrm>
            <a:off x="594360" y="3401568"/>
            <a:ext cx="4114800" cy="1005840"/>
          </a:xfrm>
          <a:prstGeom prst="rect">
            <a:avLst/>
          </a:prstGeom>
          <a:noFill/>
          <a:ln/>
        </p:spPr>
        <p:txBody>
          <a:bodyPr wrap="square" lIns="0" tIns="0" rIns="0" bIns="0" rtlCol="0" anchor="ctr"/>
          <a:lstStyle/>
          <a:p>
            <a:pPr indent="0" marL="0">
              <a:buNone/>
            </a:pPr>
            <a:r>
              <a:rPr lang="en-US" sz="1000" dirty="0">
                <a:solidFill>
                  <a:srgbClr val="34D399"/>
                </a:solidFill>
                <a:latin typeface="Courier New" pitchFamily="34" charset="0"/>
                <a:ea typeface="Courier New" pitchFamily="34" charset="-122"/>
                <a:cs typeface="Courier New" pitchFamily="34" charset="-120"/>
              </a:rPr>
              <a:t>$ docker volume create mon-volume</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docker run -d --name c1 -v mon-volume:/data alpine sleep 3600</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docker exec c2 cat /data/test.txt</a:t>
            </a:r>
            <a:endParaRPr lang="en-US" sz="1000" dirty="0"/>
          </a:p>
        </p:txBody>
      </p:sp>
      <p:pic>
        <p:nvPicPr>
          <p:cNvPr id="26" name="Image 0" descr="/tmp/job11/allimg/job06-volumes-cli.png">    </p:cNvPr>
          <p:cNvPicPr>
            <a:picLocks noChangeAspect="1"/>
          </p:cNvPicPr>
          <p:nvPr/>
        </p:nvPicPr>
        <p:blipFill>
          <a:blip r:embed="rId1"/>
          <a:stretch>
            <a:fillRect/>
          </a:stretch>
        </p:blipFill>
        <p:spPr>
          <a:xfrm>
            <a:off x="5395481" y="1188720"/>
            <a:ext cx="6033998" cy="5074920"/>
          </a:xfrm>
          <a:prstGeom prst="rect">
            <a:avLst/>
          </a:prstGeom>
        </p:spPr>
      </p:pic>
      <p:sp>
        <p:nvSpPr>
          <p:cNvPr id="27" name="Shape 24"/>
          <p:cNvSpPr/>
          <p:nvPr/>
        </p:nvSpPr>
        <p:spPr>
          <a:xfrm>
            <a:off x="5349761" y="1143000"/>
            <a:ext cx="164592" cy="0"/>
          </a:xfrm>
          <a:prstGeom prst="line">
            <a:avLst/>
          </a:prstGeom>
          <a:noFill/>
          <a:ln w="27940">
            <a:solidFill>
              <a:srgbClr val="F43F8E"/>
            </a:solidFill>
            <a:prstDash val="solid"/>
          </a:ln>
        </p:spPr>
      </p:sp>
      <p:sp>
        <p:nvSpPr>
          <p:cNvPr id="28" name="Shape 25"/>
          <p:cNvSpPr/>
          <p:nvPr/>
        </p:nvSpPr>
        <p:spPr>
          <a:xfrm>
            <a:off x="5349761" y="1143000"/>
            <a:ext cx="0" cy="164592"/>
          </a:xfrm>
          <a:prstGeom prst="line">
            <a:avLst/>
          </a:prstGeom>
          <a:noFill/>
          <a:ln w="27940">
            <a:solidFill>
              <a:srgbClr val="F43F8E"/>
            </a:solidFill>
            <a:prstDash val="solid"/>
          </a:ln>
        </p:spPr>
      </p:sp>
      <p:sp>
        <p:nvSpPr>
          <p:cNvPr id="29" name="Shape 26"/>
          <p:cNvSpPr/>
          <p:nvPr/>
        </p:nvSpPr>
        <p:spPr>
          <a:xfrm>
            <a:off x="11310607" y="6309360"/>
            <a:ext cx="164592" cy="0"/>
          </a:xfrm>
          <a:prstGeom prst="line">
            <a:avLst/>
          </a:prstGeom>
          <a:noFill/>
          <a:ln w="27940">
            <a:solidFill>
              <a:srgbClr val="22D3EE"/>
            </a:solidFill>
            <a:prstDash val="solid"/>
          </a:ln>
        </p:spPr>
      </p:sp>
      <p:sp>
        <p:nvSpPr>
          <p:cNvPr id="30" name="Shape 27"/>
          <p:cNvSpPr/>
          <p:nvPr/>
        </p:nvSpPr>
        <p:spPr>
          <a:xfrm>
            <a:off x="11475199" y="6144768"/>
            <a:ext cx="0" cy="164592"/>
          </a:xfrm>
          <a:prstGeom prst="line">
            <a:avLst/>
          </a:prstGeom>
          <a:noFill/>
          <a:ln w="27940">
            <a:solidFill>
              <a:srgbClr val="22D3EE"/>
            </a:solidFill>
            <a:prstDash val="solid"/>
          </a:ln>
        </p:spPr>
      </p:sp>
      <p:sp>
        <p:nvSpPr>
          <p:cNvPr id="31" name="Text 28"/>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2" name="Text 29"/>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07 — Nginx + FTP, volume partagé</a:t>
            </a:r>
            <a:endParaRPr lang="en-US" sz="2600" dirty="0"/>
          </a:p>
        </p:txBody>
      </p:sp>
      <p:sp>
        <p:nvSpPr>
          <p:cNvPr id="22" name="Shape 20"/>
          <p:cNvSpPr/>
          <p:nvPr/>
        </p:nvSpPr>
        <p:spPr>
          <a:xfrm>
            <a:off x="411480" y="1188720"/>
            <a:ext cx="4389120" cy="2029968"/>
          </a:xfrm>
          <a:prstGeom prst="rect">
            <a:avLst/>
          </a:prstGeom>
          <a:solidFill>
            <a:srgbClr val="111A2E"/>
          </a:solidFill>
          <a:ln w="12700">
            <a:solidFill>
              <a:srgbClr val="1E2B47"/>
            </a:solidFill>
            <a:prstDash val="solid"/>
          </a:ln>
        </p:spPr>
      </p:sp>
      <p:sp>
        <p:nvSpPr>
          <p:cNvPr id="23" name="Text 21"/>
          <p:cNvSpPr txBox="1"/>
          <p:nvPr/>
        </p:nvSpPr>
        <p:spPr>
          <a:xfrm>
            <a:off x="640080" y="1188720"/>
            <a:ext cx="4023360" cy="2029968"/>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docker compose : web (nginx) + ftp (alpine-ftp-server)</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Même volume monté dans les deux services</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Mode passif FTP : ports 21000-21010</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Dépôt de index.html avec FileZilla → page mise à jour</a:t>
            </a:r>
            <a:endParaRPr lang="en-US" sz="1400" dirty="0"/>
          </a:p>
        </p:txBody>
      </p:sp>
      <p:sp>
        <p:nvSpPr>
          <p:cNvPr id="24" name="Shape 22"/>
          <p:cNvSpPr/>
          <p:nvPr/>
        </p:nvSpPr>
        <p:spPr>
          <a:xfrm>
            <a:off x="411480" y="3401568"/>
            <a:ext cx="4389120" cy="1005840"/>
          </a:xfrm>
          <a:prstGeom prst="rect">
            <a:avLst/>
          </a:prstGeom>
          <a:solidFill>
            <a:srgbClr val="0D1426"/>
          </a:solidFill>
          <a:ln w="12700">
            <a:solidFill>
              <a:srgbClr val="1E2B47"/>
            </a:solidFill>
            <a:prstDash val="solid"/>
          </a:ln>
        </p:spPr>
      </p:sp>
      <p:sp>
        <p:nvSpPr>
          <p:cNvPr id="25" name="Text 23"/>
          <p:cNvSpPr txBox="1"/>
          <p:nvPr/>
        </p:nvSpPr>
        <p:spPr>
          <a:xfrm>
            <a:off x="594360" y="3401568"/>
            <a:ext cx="4114800" cy="1005840"/>
          </a:xfrm>
          <a:prstGeom prst="rect">
            <a:avLst/>
          </a:prstGeom>
          <a:noFill/>
          <a:ln/>
        </p:spPr>
        <p:txBody>
          <a:bodyPr wrap="square" lIns="0" tIns="0" rIns="0" bIns="0" rtlCol="0" anchor="ctr"/>
          <a:lstStyle/>
          <a:p>
            <a:pPr indent="0" marL="0">
              <a:buNone/>
            </a:pPr>
            <a:r>
              <a:rPr lang="en-US" sz="1000" dirty="0">
                <a:solidFill>
                  <a:srgbClr val="34D399"/>
                </a:solidFill>
                <a:latin typeface="Courier New" pitchFamily="34" charset="0"/>
                <a:ea typeface="Courier New" pitchFamily="34" charset="-122"/>
                <a:cs typeface="Courier New" pitchFamily="34" charset="-120"/>
              </a:rPr>
              <a:t>$ docker compose up -d</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docker exec web-ftp chown -R alexis /var/www/html</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FileZilla → ftp://alexis@192.168.109.135</a:t>
            </a:r>
            <a:endParaRPr lang="en-US" sz="1000" dirty="0"/>
          </a:p>
        </p:txBody>
      </p:sp>
      <p:pic>
        <p:nvPicPr>
          <p:cNvPr id="26" name="Image 0" descr="/tmp/job11/allimg/job07-filezilla-navigateur.png">    </p:cNvPr>
          <p:cNvPicPr>
            <a:picLocks noChangeAspect="1"/>
          </p:cNvPicPr>
          <p:nvPr/>
        </p:nvPicPr>
        <p:blipFill>
          <a:blip r:embed="rId1"/>
          <a:stretch>
            <a:fillRect/>
          </a:stretch>
        </p:blipFill>
        <p:spPr>
          <a:xfrm>
            <a:off x="5672919" y="1188720"/>
            <a:ext cx="5479122" cy="4069080"/>
          </a:xfrm>
          <a:prstGeom prst="rect">
            <a:avLst/>
          </a:prstGeom>
        </p:spPr>
      </p:pic>
      <p:sp>
        <p:nvSpPr>
          <p:cNvPr id="27" name="Shape 24"/>
          <p:cNvSpPr/>
          <p:nvPr/>
        </p:nvSpPr>
        <p:spPr>
          <a:xfrm>
            <a:off x="5627199" y="1143000"/>
            <a:ext cx="164592" cy="0"/>
          </a:xfrm>
          <a:prstGeom prst="line">
            <a:avLst/>
          </a:prstGeom>
          <a:noFill/>
          <a:ln w="27940">
            <a:solidFill>
              <a:srgbClr val="F43F8E"/>
            </a:solidFill>
            <a:prstDash val="solid"/>
          </a:ln>
        </p:spPr>
      </p:sp>
      <p:sp>
        <p:nvSpPr>
          <p:cNvPr id="28" name="Shape 25"/>
          <p:cNvSpPr/>
          <p:nvPr/>
        </p:nvSpPr>
        <p:spPr>
          <a:xfrm>
            <a:off x="5627199" y="1143000"/>
            <a:ext cx="0" cy="164592"/>
          </a:xfrm>
          <a:prstGeom prst="line">
            <a:avLst/>
          </a:prstGeom>
          <a:noFill/>
          <a:ln w="27940">
            <a:solidFill>
              <a:srgbClr val="F43F8E"/>
            </a:solidFill>
            <a:prstDash val="solid"/>
          </a:ln>
        </p:spPr>
      </p:sp>
      <p:sp>
        <p:nvSpPr>
          <p:cNvPr id="29" name="Shape 26"/>
          <p:cNvSpPr/>
          <p:nvPr/>
        </p:nvSpPr>
        <p:spPr>
          <a:xfrm>
            <a:off x="11033169" y="5303520"/>
            <a:ext cx="164592" cy="0"/>
          </a:xfrm>
          <a:prstGeom prst="line">
            <a:avLst/>
          </a:prstGeom>
          <a:noFill/>
          <a:ln w="27940">
            <a:solidFill>
              <a:srgbClr val="22D3EE"/>
            </a:solidFill>
            <a:prstDash val="solid"/>
          </a:ln>
        </p:spPr>
      </p:sp>
      <p:sp>
        <p:nvSpPr>
          <p:cNvPr id="30" name="Shape 27"/>
          <p:cNvSpPr/>
          <p:nvPr/>
        </p:nvSpPr>
        <p:spPr>
          <a:xfrm>
            <a:off x="11197761" y="5138928"/>
            <a:ext cx="0" cy="164592"/>
          </a:xfrm>
          <a:prstGeom prst="line">
            <a:avLst/>
          </a:prstGeom>
          <a:noFill/>
          <a:ln w="27940">
            <a:solidFill>
              <a:srgbClr val="22D3EE"/>
            </a:solidFill>
            <a:prstDash val="solid"/>
          </a:ln>
        </p:spPr>
      </p:sp>
      <p:sp>
        <p:nvSpPr>
          <p:cNvPr id="31" name="Shape 28"/>
          <p:cNvSpPr/>
          <p:nvPr/>
        </p:nvSpPr>
        <p:spPr>
          <a:xfrm>
            <a:off x="411480" y="5486400"/>
            <a:ext cx="11338560" cy="731520"/>
          </a:xfrm>
          <a:prstGeom prst="rect">
            <a:avLst/>
          </a:prstGeom>
          <a:solidFill>
            <a:srgbClr val="1A0F1E"/>
          </a:solidFill>
          <a:ln w="15875">
            <a:solidFill>
              <a:srgbClr val="F43F8E"/>
            </a:solidFill>
            <a:prstDash val="solid"/>
          </a:ln>
        </p:spPr>
      </p:sp>
      <p:sp>
        <p:nvSpPr>
          <p:cNvPr id="32" name="Text 29"/>
          <p:cNvSpPr txBox="1"/>
          <p:nvPr/>
        </p:nvSpPr>
        <p:spPr>
          <a:xfrm>
            <a:off x="640080" y="5532120"/>
            <a:ext cx="3657600" cy="256032"/>
          </a:xfrm>
          <a:prstGeom prst="rect">
            <a:avLst/>
          </a:prstGeom>
          <a:noFill/>
          <a:ln/>
        </p:spPr>
        <p:txBody>
          <a:bodyPr wrap="square" lIns="0" tIns="0" rIns="0" bIns="0" rtlCol="0" anchor="ctr"/>
          <a:lstStyle/>
          <a:p>
            <a:pPr indent="0" marL="0">
              <a:buNone/>
            </a:pPr>
            <a:r>
              <a:rPr lang="en-US" sz="1100" b="1" spc="300" kern="0" dirty="0">
                <a:solidFill>
                  <a:srgbClr val="F43F8E"/>
                </a:solidFill>
                <a:latin typeface="Calibri" pitchFamily="34" charset="0"/>
                <a:ea typeface="Calibri" pitchFamily="34" charset="-122"/>
                <a:cs typeface="Calibri" pitchFamily="34" charset="-120"/>
              </a:rPr>
              <a:t>⚡ PROBLÈME RÉSOLU</a:t>
            </a:r>
            <a:endParaRPr lang="en-US" sz="1100" dirty="0"/>
          </a:p>
        </p:txBody>
      </p:sp>
      <p:sp>
        <p:nvSpPr>
          <p:cNvPr id="33" name="Text 30"/>
          <p:cNvSpPr txBox="1"/>
          <p:nvPr/>
        </p:nvSpPr>
        <p:spPr>
          <a:xfrm>
            <a:off x="640080" y="5806440"/>
            <a:ext cx="10881360" cy="365760"/>
          </a:xfrm>
          <a:prstGeom prst="rect">
            <a:avLst/>
          </a:prstGeom>
          <a:noFill/>
          <a:ln/>
        </p:spPr>
        <p:txBody>
          <a:bodyPr wrap="square" lIns="0" tIns="0" rIns="0" bIns="0" rtlCol="0" anchor="ctr"/>
          <a:lstStyle/>
          <a:p>
            <a:pPr indent="0" marL="0">
              <a:buNone/>
            </a:pPr>
            <a:r>
              <a:rPr lang="en-US" sz="1250" b="1" dirty="0">
                <a:solidFill>
                  <a:srgbClr val="F43F8E"/>
                </a:solidFill>
                <a:latin typeface="Calibri" pitchFamily="34" charset="0"/>
                <a:ea typeface="Calibri" pitchFamily="34" charset="-122"/>
                <a:cs typeface="Calibri" pitchFamily="34" charset="-120"/>
              </a:rPr>
              <a:t>Symptôme  </a:t>
            </a:r>
            <a:pPr indent="0" marL="0">
              <a:buNone/>
            </a:pPr>
            <a:r>
              <a:rPr lang="en-US" sz="1250" dirty="0">
                <a:solidFill>
                  <a:srgbClr val="E6EDF7"/>
                </a:solidFill>
                <a:latin typeface="Calibri" pitchFamily="34" charset="0"/>
                <a:ea typeface="Calibri" pitchFamily="34" charset="-122"/>
                <a:cs typeface="Calibri" pitchFamily="34" charset="-120"/>
              </a:rPr>
              <a:t>Dépôt FTP refusé (permissions)     </a:t>
            </a:r>
            <a:pPr indent="0" marL="0">
              <a:buNone/>
            </a:pPr>
            <a:r>
              <a:rPr lang="en-US" sz="1250" b="1" dirty="0">
                <a:solidFill>
                  <a:srgbClr val="34D399"/>
                </a:solidFill>
                <a:latin typeface="Calibri" pitchFamily="34" charset="0"/>
                <a:ea typeface="Calibri" pitchFamily="34" charset="-122"/>
                <a:cs typeface="Calibri" pitchFamily="34" charset="-120"/>
              </a:rPr>
              <a:t>Solution  </a:t>
            </a:r>
            <a:pPr indent="0" marL="0">
              <a:buNone/>
            </a:pPr>
            <a:r>
              <a:rPr lang="en-US" sz="1250" dirty="0">
                <a:solidFill>
                  <a:srgbClr val="E6EDF7"/>
                </a:solidFill>
                <a:latin typeface="Calibri" pitchFamily="34" charset="0"/>
                <a:ea typeface="Calibri" pitchFamily="34" charset="-122"/>
                <a:cs typeface="Calibri" pitchFamily="34" charset="-120"/>
              </a:rPr>
              <a:t>chown du dossier partagé dans le conteneur FTP</a:t>
            </a:r>
            <a:endParaRPr lang="en-US" sz="1250" dirty="0"/>
          </a:p>
        </p:txBody>
      </p:sp>
      <p:sp>
        <p:nvSpPr>
          <p:cNvPr id="34" name="Text 31"/>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5" name="Text 32"/>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08 — Image nginx personnalisée</a:t>
            </a:r>
            <a:endParaRPr lang="en-US" sz="2600" dirty="0"/>
          </a:p>
        </p:txBody>
      </p:sp>
      <p:sp>
        <p:nvSpPr>
          <p:cNvPr id="22" name="Shape 20"/>
          <p:cNvSpPr/>
          <p:nvPr/>
        </p:nvSpPr>
        <p:spPr>
          <a:xfrm>
            <a:off x="411480" y="1188720"/>
            <a:ext cx="4389120" cy="2029968"/>
          </a:xfrm>
          <a:prstGeom prst="rect">
            <a:avLst/>
          </a:prstGeom>
          <a:solidFill>
            <a:srgbClr val="111A2E"/>
          </a:solidFill>
          <a:ln w="12700">
            <a:solidFill>
              <a:srgbClr val="1E2B47"/>
            </a:solidFill>
            <a:prstDash val="solid"/>
          </a:ln>
        </p:spPr>
      </p:sp>
      <p:sp>
        <p:nvSpPr>
          <p:cNvPr id="23" name="Text 21"/>
          <p:cNvSpPr txBox="1"/>
          <p:nvPr/>
        </p:nvSpPr>
        <p:spPr>
          <a:xfrm>
            <a:off x="640080" y="1188720"/>
            <a:ext cx="4023360" cy="2029968"/>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FROM debian + apt install nginx + index.html</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Image nginx-debian vs image officielle nginx</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Port 8081 → 80</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Comparaison de taille des images</a:t>
            </a:r>
            <a:endParaRPr lang="en-US" sz="1400" dirty="0"/>
          </a:p>
        </p:txBody>
      </p:sp>
      <p:sp>
        <p:nvSpPr>
          <p:cNvPr id="24" name="Shape 22"/>
          <p:cNvSpPr/>
          <p:nvPr/>
        </p:nvSpPr>
        <p:spPr>
          <a:xfrm>
            <a:off x="411480" y="3401568"/>
            <a:ext cx="4389120" cy="1005840"/>
          </a:xfrm>
          <a:prstGeom prst="rect">
            <a:avLst/>
          </a:prstGeom>
          <a:solidFill>
            <a:srgbClr val="0D1426"/>
          </a:solidFill>
          <a:ln w="12700">
            <a:solidFill>
              <a:srgbClr val="1E2B47"/>
            </a:solidFill>
            <a:prstDash val="solid"/>
          </a:ln>
        </p:spPr>
      </p:sp>
      <p:sp>
        <p:nvSpPr>
          <p:cNvPr id="25" name="Text 23"/>
          <p:cNvSpPr txBox="1"/>
          <p:nvPr/>
        </p:nvSpPr>
        <p:spPr>
          <a:xfrm>
            <a:off x="594360" y="3401568"/>
            <a:ext cx="4114800" cy="1005840"/>
          </a:xfrm>
          <a:prstGeom prst="rect">
            <a:avLst/>
          </a:prstGeom>
          <a:noFill/>
          <a:ln/>
        </p:spPr>
        <p:txBody>
          <a:bodyPr wrap="square" lIns="0" tIns="0" rIns="0" bIns="0" rtlCol="0" anchor="ctr"/>
          <a:lstStyle/>
          <a:p>
            <a:pPr indent="0" marL="0">
              <a:buNone/>
            </a:pPr>
            <a:r>
              <a:rPr lang="en-US" sz="1000" dirty="0">
                <a:solidFill>
                  <a:srgbClr val="34D399"/>
                </a:solidFill>
                <a:latin typeface="Courier New" pitchFamily="34" charset="0"/>
                <a:ea typeface="Courier New" pitchFamily="34" charset="-122"/>
                <a:cs typeface="Courier New" pitchFamily="34" charset="-120"/>
              </a:rPr>
              <a:t>$ docker build -t nginx-debian .</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docker run -d -p 8081:80 --name nginx-test nginx-debian</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curl http://localhost:8081</a:t>
            </a:r>
            <a:endParaRPr lang="en-US" sz="1000" dirty="0"/>
          </a:p>
        </p:txBody>
      </p:sp>
      <p:pic>
        <p:nvPicPr>
          <p:cNvPr id="26" name="Image 0" descr="/tmp/job11/allimg/job08-build-run-curl.png">    </p:cNvPr>
          <p:cNvPicPr>
            <a:picLocks noChangeAspect="1"/>
          </p:cNvPicPr>
          <p:nvPr/>
        </p:nvPicPr>
        <p:blipFill>
          <a:blip r:embed="rId1"/>
          <a:stretch>
            <a:fillRect/>
          </a:stretch>
        </p:blipFill>
        <p:spPr>
          <a:xfrm>
            <a:off x="5074920" y="2129119"/>
            <a:ext cx="6675120" cy="3194122"/>
          </a:xfrm>
          <a:prstGeom prst="rect">
            <a:avLst/>
          </a:prstGeom>
        </p:spPr>
      </p:pic>
      <p:sp>
        <p:nvSpPr>
          <p:cNvPr id="27" name="Shape 24"/>
          <p:cNvSpPr/>
          <p:nvPr/>
        </p:nvSpPr>
        <p:spPr>
          <a:xfrm>
            <a:off x="5029200" y="2083399"/>
            <a:ext cx="164592" cy="0"/>
          </a:xfrm>
          <a:prstGeom prst="line">
            <a:avLst/>
          </a:prstGeom>
          <a:noFill/>
          <a:ln w="27940">
            <a:solidFill>
              <a:srgbClr val="F43F8E"/>
            </a:solidFill>
            <a:prstDash val="solid"/>
          </a:ln>
        </p:spPr>
      </p:sp>
      <p:sp>
        <p:nvSpPr>
          <p:cNvPr id="28" name="Shape 25"/>
          <p:cNvSpPr/>
          <p:nvPr/>
        </p:nvSpPr>
        <p:spPr>
          <a:xfrm>
            <a:off x="5029200" y="2083399"/>
            <a:ext cx="0" cy="164592"/>
          </a:xfrm>
          <a:prstGeom prst="line">
            <a:avLst/>
          </a:prstGeom>
          <a:noFill/>
          <a:ln w="27940">
            <a:solidFill>
              <a:srgbClr val="F43F8E"/>
            </a:solidFill>
            <a:prstDash val="solid"/>
          </a:ln>
        </p:spPr>
      </p:sp>
      <p:sp>
        <p:nvSpPr>
          <p:cNvPr id="29" name="Shape 26"/>
          <p:cNvSpPr/>
          <p:nvPr/>
        </p:nvSpPr>
        <p:spPr>
          <a:xfrm>
            <a:off x="11631168" y="5368961"/>
            <a:ext cx="164592" cy="0"/>
          </a:xfrm>
          <a:prstGeom prst="line">
            <a:avLst/>
          </a:prstGeom>
          <a:noFill/>
          <a:ln w="27940">
            <a:solidFill>
              <a:srgbClr val="22D3EE"/>
            </a:solidFill>
            <a:prstDash val="solid"/>
          </a:ln>
        </p:spPr>
      </p:sp>
      <p:sp>
        <p:nvSpPr>
          <p:cNvPr id="30" name="Shape 27"/>
          <p:cNvSpPr/>
          <p:nvPr/>
        </p:nvSpPr>
        <p:spPr>
          <a:xfrm>
            <a:off x="11795760" y="5204369"/>
            <a:ext cx="0" cy="164592"/>
          </a:xfrm>
          <a:prstGeom prst="line">
            <a:avLst/>
          </a:prstGeom>
          <a:noFill/>
          <a:ln w="27940">
            <a:solidFill>
              <a:srgbClr val="22D3EE"/>
            </a:solidFill>
            <a:prstDash val="solid"/>
          </a:ln>
        </p:spPr>
      </p:sp>
      <p:sp>
        <p:nvSpPr>
          <p:cNvPr id="31" name="Text 28"/>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2" name="Text 29"/>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08 — Image nginx personnalisée (suite)</a:t>
            </a:r>
            <a:endParaRPr lang="en-US" sz="2600" dirty="0"/>
          </a:p>
        </p:txBody>
      </p:sp>
      <p:pic>
        <p:nvPicPr>
          <p:cNvPr id="22" name="Image 0" descr="/tmp/job11/allimg/job08-navigateur.png">    </p:cNvPr>
          <p:cNvPicPr>
            <a:picLocks noChangeAspect="1"/>
          </p:cNvPicPr>
          <p:nvPr/>
        </p:nvPicPr>
        <p:blipFill>
          <a:blip r:embed="rId1"/>
          <a:stretch>
            <a:fillRect/>
          </a:stretch>
        </p:blipFill>
        <p:spPr>
          <a:xfrm>
            <a:off x="3440959" y="1188720"/>
            <a:ext cx="5279601" cy="2377440"/>
          </a:xfrm>
          <a:prstGeom prst="rect">
            <a:avLst/>
          </a:prstGeom>
        </p:spPr>
      </p:pic>
      <p:sp>
        <p:nvSpPr>
          <p:cNvPr id="23" name="Shape 20"/>
          <p:cNvSpPr/>
          <p:nvPr/>
        </p:nvSpPr>
        <p:spPr>
          <a:xfrm>
            <a:off x="3395239" y="1143000"/>
            <a:ext cx="164592" cy="0"/>
          </a:xfrm>
          <a:prstGeom prst="line">
            <a:avLst/>
          </a:prstGeom>
          <a:noFill/>
          <a:ln w="27940">
            <a:solidFill>
              <a:srgbClr val="F43F8E"/>
            </a:solidFill>
            <a:prstDash val="solid"/>
          </a:ln>
        </p:spPr>
      </p:sp>
      <p:sp>
        <p:nvSpPr>
          <p:cNvPr id="24" name="Shape 21"/>
          <p:cNvSpPr/>
          <p:nvPr/>
        </p:nvSpPr>
        <p:spPr>
          <a:xfrm>
            <a:off x="3395239" y="1143000"/>
            <a:ext cx="0" cy="164592"/>
          </a:xfrm>
          <a:prstGeom prst="line">
            <a:avLst/>
          </a:prstGeom>
          <a:noFill/>
          <a:ln w="27940">
            <a:solidFill>
              <a:srgbClr val="F43F8E"/>
            </a:solidFill>
            <a:prstDash val="solid"/>
          </a:ln>
        </p:spPr>
      </p:sp>
      <p:sp>
        <p:nvSpPr>
          <p:cNvPr id="25" name="Shape 22"/>
          <p:cNvSpPr/>
          <p:nvPr/>
        </p:nvSpPr>
        <p:spPr>
          <a:xfrm>
            <a:off x="8601689" y="3611880"/>
            <a:ext cx="164592" cy="0"/>
          </a:xfrm>
          <a:prstGeom prst="line">
            <a:avLst/>
          </a:prstGeom>
          <a:noFill/>
          <a:ln w="27940">
            <a:solidFill>
              <a:srgbClr val="22D3EE"/>
            </a:solidFill>
            <a:prstDash val="solid"/>
          </a:ln>
        </p:spPr>
      </p:sp>
      <p:sp>
        <p:nvSpPr>
          <p:cNvPr id="26" name="Shape 23"/>
          <p:cNvSpPr/>
          <p:nvPr/>
        </p:nvSpPr>
        <p:spPr>
          <a:xfrm>
            <a:off x="8766281" y="3447288"/>
            <a:ext cx="0" cy="164592"/>
          </a:xfrm>
          <a:prstGeom prst="line">
            <a:avLst/>
          </a:prstGeom>
          <a:noFill/>
          <a:ln w="27940">
            <a:solidFill>
              <a:srgbClr val="22D3EE"/>
            </a:solidFill>
            <a:prstDash val="solid"/>
          </a:ln>
        </p:spPr>
      </p:sp>
      <p:pic>
        <p:nvPicPr>
          <p:cNvPr id="27" name="Image 1" descr="/tmp/job11/allimg/job08-images-ps.png">    </p:cNvPr>
          <p:cNvPicPr>
            <a:picLocks noChangeAspect="1"/>
          </p:cNvPicPr>
          <p:nvPr/>
        </p:nvPicPr>
        <p:blipFill>
          <a:blip r:embed="rId2"/>
          <a:stretch>
            <a:fillRect/>
          </a:stretch>
        </p:blipFill>
        <p:spPr>
          <a:xfrm>
            <a:off x="3038848" y="3840480"/>
            <a:ext cx="6083824" cy="2377440"/>
          </a:xfrm>
          <a:prstGeom prst="rect">
            <a:avLst/>
          </a:prstGeom>
        </p:spPr>
      </p:pic>
      <p:sp>
        <p:nvSpPr>
          <p:cNvPr id="28" name="Shape 24"/>
          <p:cNvSpPr/>
          <p:nvPr/>
        </p:nvSpPr>
        <p:spPr>
          <a:xfrm>
            <a:off x="2993128" y="3794760"/>
            <a:ext cx="164592" cy="0"/>
          </a:xfrm>
          <a:prstGeom prst="line">
            <a:avLst/>
          </a:prstGeom>
          <a:noFill/>
          <a:ln w="27940">
            <a:solidFill>
              <a:srgbClr val="F43F8E"/>
            </a:solidFill>
            <a:prstDash val="solid"/>
          </a:ln>
        </p:spPr>
      </p:sp>
      <p:sp>
        <p:nvSpPr>
          <p:cNvPr id="29" name="Shape 25"/>
          <p:cNvSpPr/>
          <p:nvPr/>
        </p:nvSpPr>
        <p:spPr>
          <a:xfrm>
            <a:off x="2993128" y="3794760"/>
            <a:ext cx="0" cy="164592"/>
          </a:xfrm>
          <a:prstGeom prst="line">
            <a:avLst/>
          </a:prstGeom>
          <a:noFill/>
          <a:ln w="27940">
            <a:solidFill>
              <a:srgbClr val="F43F8E"/>
            </a:solidFill>
            <a:prstDash val="solid"/>
          </a:ln>
        </p:spPr>
      </p:sp>
      <p:sp>
        <p:nvSpPr>
          <p:cNvPr id="30" name="Shape 26"/>
          <p:cNvSpPr/>
          <p:nvPr/>
        </p:nvSpPr>
        <p:spPr>
          <a:xfrm>
            <a:off x="9003800" y="6263640"/>
            <a:ext cx="164592" cy="0"/>
          </a:xfrm>
          <a:prstGeom prst="line">
            <a:avLst/>
          </a:prstGeom>
          <a:noFill/>
          <a:ln w="27940">
            <a:solidFill>
              <a:srgbClr val="22D3EE"/>
            </a:solidFill>
            <a:prstDash val="solid"/>
          </a:ln>
        </p:spPr>
      </p:sp>
      <p:sp>
        <p:nvSpPr>
          <p:cNvPr id="31" name="Shape 27"/>
          <p:cNvSpPr/>
          <p:nvPr/>
        </p:nvSpPr>
        <p:spPr>
          <a:xfrm>
            <a:off x="9168392" y="6099048"/>
            <a:ext cx="0" cy="164592"/>
          </a:xfrm>
          <a:prstGeom prst="line">
            <a:avLst/>
          </a:prstGeom>
          <a:noFill/>
          <a:ln w="27940">
            <a:solidFill>
              <a:srgbClr val="22D3EE"/>
            </a:solidFill>
            <a:prstDash val="solid"/>
          </a:ln>
        </p:spPr>
      </p:sp>
      <p:sp>
        <p:nvSpPr>
          <p:cNvPr id="32" name="Text 28"/>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3" name="Text 29"/>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 / 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09 — Registry local + interface</a:t>
            </a:r>
            <a:endParaRPr lang="en-US" sz="2600" dirty="0"/>
          </a:p>
        </p:txBody>
      </p:sp>
      <p:sp>
        <p:nvSpPr>
          <p:cNvPr id="22" name="Shape 20"/>
          <p:cNvSpPr/>
          <p:nvPr/>
        </p:nvSpPr>
        <p:spPr>
          <a:xfrm>
            <a:off x="411480" y="1188720"/>
            <a:ext cx="4389120" cy="2029968"/>
          </a:xfrm>
          <a:prstGeom prst="rect">
            <a:avLst/>
          </a:prstGeom>
          <a:solidFill>
            <a:srgbClr val="111A2E"/>
          </a:solidFill>
          <a:ln w="12700">
            <a:solidFill>
              <a:srgbClr val="1E2B47"/>
            </a:solidFill>
            <a:prstDash val="solid"/>
          </a:ln>
        </p:spPr>
      </p:sp>
      <p:sp>
        <p:nvSpPr>
          <p:cNvPr id="23" name="Text 21"/>
          <p:cNvSpPr txBox="1"/>
          <p:nvPr/>
        </p:nvSpPr>
        <p:spPr>
          <a:xfrm>
            <a:off x="640080" y="1188720"/>
            <a:ext cx="4023360" cy="2029968"/>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registry:2 + joxit/docker-registry-ui</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Interface web sur le port 8082</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Tag, push, catalogue, suppression locale, pull</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localhost:5000 autorisé en non sécurisé</a:t>
            </a:r>
            <a:endParaRPr lang="en-US" sz="1400" dirty="0"/>
          </a:p>
        </p:txBody>
      </p:sp>
      <p:sp>
        <p:nvSpPr>
          <p:cNvPr id="24" name="Shape 22"/>
          <p:cNvSpPr/>
          <p:nvPr/>
        </p:nvSpPr>
        <p:spPr>
          <a:xfrm>
            <a:off x="411480" y="3401568"/>
            <a:ext cx="4389120" cy="1005840"/>
          </a:xfrm>
          <a:prstGeom prst="rect">
            <a:avLst/>
          </a:prstGeom>
          <a:solidFill>
            <a:srgbClr val="0D1426"/>
          </a:solidFill>
          <a:ln w="12700">
            <a:solidFill>
              <a:srgbClr val="1E2B47"/>
            </a:solidFill>
            <a:prstDash val="solid"/>
          </a:ln>
        </p:spPr>
      </p:sp>
      <p:sp>
        <p:nvSpPr>
          <p:cNvPr id="25" name="Text 23"/>
          <p:cNvSpPr txBox="1"/>
          <p:nvPr/>
        </p:nvSpPr>
        <p:spPr>
          <a:xfrm>
            <a:off x="594360" y="3401568"/>
            <a:ext cx="4114800" cy="1005840"/>
          </a:xfrm>
          <a:prstGeom prst="rect">
            <a:avLst/>
          </a:prstGeom>
          <a:noFill/>
          <a:ln/>
        </p:spPr>
        <p:txBody>
          <a:bodyPr wrap="square" lIns="0" tIns="0" rIns="0" bIns="0" rtlCol="0" anchor="ctr"/>
          <a:lstStyle/>
          <a:p>
            <a:pPr indent="0" marL="0">
              <a:buNone/>
            </a:pPr>
            <a:r>
              <a:rPr lang="en-US" sz="1000" dirty="0">
                <a:solidFill>
                  <a:srgbClr val="34D399"/>
                </a:solidFill>
                <a:latin typeface="Courier New" pitchFamily="34" charset="0"/>
                <a:ea typeface="Courier New" pitchFamily="34" charset="-122"/>
                <a:cs typeface="Courier New" pitchFamily="34" charset="-120"/>
              </a:rPr>
              <a:t>$ docker tag nginx-debian:job08 localhost:5000/nginx-debian:job08</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docker push localhost:5000/nginx-debian:job08</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curl http://localhost:5000/v2/_catalog</a:t>
            </a:r>
            <a:endParaRPr lang="en-US" sz="1000" dirty="0"/>
          </a:p>
        </p:txBody>
      </p:sp>
      <p:pic>
        <p:nvPicPr>
          <p:cNvPr id="26" name="Image 0" descr="/tmp/job11/allimg/job09-compose-up-push.png">    </p:cNvPr>
          <p:cNvPicPr>
            <a:picLocks noChangeAspect="1"/>
          </p:cNvPicPr>
          <p:nvPr/>
        </p:nvPicPr>
        <p:blipFill>
          <a:blip r:embed="rId1"/>
          <a:stretch>
            <a:fillRect/>
          </a:stretch>
        </p:blipFill>
        <p:spPr>
          <a:xfrm>
            <a:off x="5074920" y="2085476"/>
            <a:ext cx="6675120" cy="3281408"/>
          </a:xfrm>
          <a:prstGeom prst="rect">
            <a:avLst/>
          </a:prstGeom>
        </p:spPr>
      </p:pic>
      <p:sp>
        <p:nvSpPr>
          <p:cNvPr id="27" name="Shape 24"/>
          <p:cNvSpPr/>
          <p:nvPr/>
        </p:nvSpPr>
        <p:spPr>
          <a:xfrm>
            <a:off x="5029200" y="2039756"/>
            <a:ext cx="164592" cy="0"/>
          </a:xfrm>
          <a:prstGeom prst="line">
            <a:avLst/>
          </a:prstGeom>
          <a:noFill/>
          <a:ln w="27940">
            <a:solidFill>
              <a:srgbClr val="F43F8E"/>
            </a:solidFill>
            <a:prstDash val="solid"/>
          </a:ln>
        </p:spPr>
      </p:sp>
      <p:sp>
        <p:nvSpPr>
          <p:cNvPr id="28" name="Shape 25"/>
          <p:cNvSpPr/>
          <p:nvPr/>
        </p:nvSpPr>
        <p:spPr>
          <a:xfrm>
            <a:off x="5029200" y="2039756"/>
            <a:ext cx="0" cy="164592"/>
          </a:xfrm>
          <a:prstGeom prst="line">
            <a:avLst/>
          </a:prstGeom>
          <a:noFill/>
          <a:ln w="27940">
            <a:solidFill>
              <a:srgbClr val="F43F8E"/>
            </a:solidFill>
            <a:prstDash val="solid"/>
          </a:ln>
        </p:spPr>
      </p:sp>
      <p:sp>
        <p:nvSpPr>
          <p:cNvPr id="29" name="Shape 26"/>
          <p:cNvSpPr/>
          <p:nvPr/>
        </p:nvSpPr>
        <p:spPr>
          <a:xfrm>
            <a:off x="11631168" y="5412604"/>
            <a:ext cx="164592" cy="0"/>
          </a:xfrm>
          <a:prstGeom prst="line">
            <a:avLst/>
          </a:prstGeom>
          <a:noFill/>
          <a:ln w="27940">
            <a:solidFill>
              <a:srgbClr val="22D3EE"/>
            </a:solidFill>
            <a:prstDash val="solid"/>
          </a:ln>
        </p:spPr>
      </p:sp>
      <p:sp>
        <p:nvSpPr>
          <p:cNvPr id="30" name="Shape 27"/>
          <p:cNvSpPr/>
          <p:nvPr/>
        </p:nvSpPr>
        <p:spPr>
          <a:xfrm>
            <a:off x="11795760" y="5248012"/>
            <a:ext cx="0" cy="164592"/>
          </a:xfrm>
          <a:prstGeom prst="line">
            <a:avLst/>
          </a:prstGeom>
          <a:noFill/>
          <a:ln w="27940">
            <a:solidFill>
              <a:srgbClr val="22D3EE"/>
            </a:solidFill>
            <a:prstDash val="solid"/>
          </a:ln>
        </p:spPr>
      </p:sp>
      <p:sp>
        <p:nvSpPr>
          <p:cNvPr id="31" name="Text 28"/>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2" name="Text 29"/>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 / 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09 — Registry local + interface (suite)</a:t>
            </a:r>
            <a:endParaRPr lang="en-US" sz="2600" dirty="0"/>
          </a:p>
        </p:txBody>
      </p:sp>
      <p:pic>
        <p:nvPicPr>
          <p:cNvPr id="22" name="Image 0" descr="/tmp/job11/allimg/job09-registry-ui.png">    </p:cNvPr>
          <p:cNvPicPr>
            <a:picLocks noChangeAspect="1"/>
          </p:cNvPicPr>
          <p:nvPr/>
        </p:nvPicPr>
        <p:blipFill>
          <a:blip r:embed="rId1"/>
          <a:stretch>
            <a:fillRect/>
          </a:stretch>
        </p:blipFill>
        <p:spPr>
          <a:xfrm>
            <a:off x="1341235" y="1188720"/>
            <a:ext cx="3672610" cy="5029200"/>
          </a:xfrm>
          <a:prstGeom prst="rect">
            <a:avLst/>
          </a:prstGeom>
        </p:spPr>
      </p:pic>
      <p:sp>
        <p:nvSpPr>
          <p:cNvPr id="23" name="Shape 20"/>
          <p:cNvSpPr/>
          <p:nvPr/>
        </p:nvSpPr>
        <p:spPr>
          <a:xfrm>
            <a:off x="1295515" y="1143000"/>
            <a:ext cx="164592" cy="0"/>
          </a:xfrm>
          <a:prstGeom prst="line">
            <a:avLst/>
          </a:prstGeom>
          <a:noFill/>
          <a:ln w="27940">
            <a:solidFill>
              <a:srgbClr val="F43F8E"/>
            </a:solidFill>
            <a:prstDash val="solid"/>
          </a:ln>
        </p:spPr>
      </p:sp>
      <p:sp>
        <p:nvSpPr>
          <p:cNvPr id="24" name="Shape 21"/>
          <p:cNvSpPr/>
          <p:nvPr/>
        </p:nvSpPr>
        <p:spPr>
          <a:xfrm>
            <a:off x="1295515" y="1143000"/>
            <a:ext cx="0" cy="164592"/>
          </a:xfrm>
          <a:prstGeom prst="line">
            <a:avLst/>
          </a:prstGeom>
          <a:noFill/>
          <a:ln w="27940">
            <a:solidFill>
              <a:srgbClr val="F43F8E"/>
            </a:solidFill>
            <a:prstDash val="solid"/>
          </a:ln>
        </p:spPr>
      </p:sp>
      <p:sp>
        <p:nvSpPr>
          <p:cNvPr id="25" name="Shape 22"/>
          <p:cNvSpPr/>
          <p:nvPr/>
        </p:nvSpPr>
        <p:spPr>
          <a:xfrm>
            <a:off x="4894973" y="6263640"/>
            <a:ext cx="164592" cy="0"/>
          </a:xfrm>
          <a:prstGeom prst="line">
            <a:avLst/>
          </a:prstGeom>
          <a:noFill/>
          <a:ln w="27940">
            <a:solidFill>
              <a:srgbClr val="22D3EE"/>
            </a:solidFill>
            <a:prstDash val="solid"/>
          </a:ln>
        </p:spPr>
      </p:sp>
      <p:sp>
        <p:nvSpPr>
          <p:cNvPr id="26" name="Shape 23"/>
          <p:cNvSpPr/>
          <p:nvPr/>
        </p:nvSpPr>
        <p:spPr>
          <a:xfrm>
            <a:off x="5059565" y="6099048"/>
            <a:ext cx="0" cy="164592"/>
          </a:xfrm>
          <a:prstGeom prst="line">
            <a:avLst/>
          </a:prstGeom>
          <a:noFill/>
          <a:ln w="27940">
            <a:solidFill>
              <a:srgbClr val="22D3EE"/>
            </a:solidFill>
            <a:prstDash val="solid"/>
          </a:ln>
        </p:spPr>
      </p:sp>
      <p:pic>
        <p:nvPicPr>
          <p:cNvPr id="27" name="Image 1" descr="/tmp/job11/allimg/job09-registry-ui-tags.png">    </p:cNvPr>
          <p:cNvPicPr>
            <a:picLocks noChangeAspect="1"/>
          </p:cNvPicPr>
          <p:nvPr/>
        </p:nvPicPr>
        <p:blipFill>
          <a:blip r:embed="rId2"/>
          <a:stretch>
            <a:fillRect/>
          </a:stretch>
        </p:blipFill>
        <p:spPr>
          <a:xfrm>
            <a:off x="7190380" y="1188720"/>
            <a:ext cx="3587199" cy="5029200"/>
          </a:xfrm>
          <a:prstGeom prst="rect">
            <a:avLst/>
          </a:prstGeom>
        </p:spPr>
      </p:pic>
      <p:sp>
        <p:nvSpPr>
          <p:cNvPr id="28" name="Shape 24"/>
          <p:cNvSpPr/>
          <p:nvPr/>
        </p:nvSpPr>
        <p:spPr>
          <a:xfrm>
            <a:off x="7144660" y="1143000"/>
            <a:ext cx="164592" cy="0"/>
          </a:xfrm>
          <a:prstGeom prst="line">
            <a:avLst/>
          </a:prstGeom>
          <a:noFill/>
          <a:ln w="27940">
            <a:solidFill>
              <a:srgbClr val="F43F8E"/>
            </a:solidFill>
            <a:prstDash val="solid"/>
          </a:ln>
        </p:spPr>
      </p:sp>
      <p:sp>
        <p:nvSpPr>
          <p:cNvPr id="29" name="Shape 25"/>
          <p:cNvSpPr/>
          <p:nvPr/>
        </p:nvSpPr>
        <p:spPr>
          <a:xfrm>
            <a:off x="7144660" y="1143000"/>
            <a:ext cx="0" cy="164592"/>
          </a:xfrm>
          <a:prstGeom prst="line">
            <a:avLst/>
          </a:prstGeom>
          <a:noFill/>
          <a:ln w="27940">
            <a:solidFill>
              <a:srgbClr val="F43F8E"/>
            </a:solidFill>
            <a:prstDash val="solid"/>
          </a:ln>
        </p:spPr>
      </p:sp>
      <p:sp>
        <p:nvSpPr>
          <p:cNvPr id="30" name="Shape 26"/>
          <p:cNvSpPr/>
          <p:nvPr/>
        </p:nvSpPr>
        <p:spPr>
          <a:xfrm>
            <a:off x="10658708" y="6263640"/>
            <a:ext cx="164592" cy="0"/>
          </a:xfrm>
          <a:prstGeom prst="line">
            <a:avLst/>
          </a:prstGeom>
          <a:noFill/>
          <a:ln w="27940">
            <a:solidFill>
              <a:srgbClr val="22D3EE"/>
            </a:solidFill>
            <a:prstDash val="solid"/>
          </a:ln>
        </p:spPr>
      </p:sp>
      <p:sp>
        <p:nvSpPr>
          <p:cNvPr id="31" name="Shape 27"/>
          <p:cNvSpPr/>
          <p:nvPr/>
        </p:nvSpPr>
        <p:spPr>
          <a:xfrm>
            <a:off x="10823300" y="6099048"/>
            <a:ext cx="0" cy="164592"/>
          </a:xfrm>
          <a:prstGeom prst="line">
            <a:avLst/>
          </a:prstGeom>
          <a:noFill/>
          <a:ln w="27940">
            <a:solidFill>
              <a:srgbClr val="22D3EE"/>
            </a:solidFill>
            <a:prstDash val="solid"/>
          </a:ln>
        </p:spPr>
      </p:sp>
      <p:sp>
        <p:nvSpPr>
          <p:cNvPr id="32" name="Text 28"/>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3" name="Text 29"/>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 / 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10 — Scripts install et uninstall</a:t>
            </a:r>
            <a:endParaRPr lang="en-US" sz="2600" dirty="0"/>
          </a:p>
        </p:txBody>
      </p:sp>
      <p:sp>
        <p:nvSpPr>
          <p:cNvPr id="22" name="Shape 20"/>
          <p:cNvSpPr/>
          <p:nvPr/>
        </p:nvSpPr>
        <p:spPr>
          <a:xfrm>
            <a:off x="411480" y="1188720"/>
            <a:ext cx="4389120" cy="2029968"/>
          </a:xfrm>
          <a:prstGeom prst="rect">
            <a:avLst/>
          </a:prstGeom>
          <a:solidFill>
            <a:srgbClr val="111A2E"/>
          </a:solidFill>
          <a:ln w="12700">
            <a:solidFill>
              <a:srgbClr val="1E2B47"/>
            </a:solidFill>
            <a:prstDash val="solid"/>
          </a:ln>
        </p:spPr>
      </p:sp>
      <p:sp>
        <p:nvSpPr>
          <p:cNvPr id="23" name="Text 21"/>
          <p:cNvSpPr txBox="1"/>
          <p:nvPr/>
        </p:nvSpPr>
        <p:spPr>
          <a:xfrm>
            <a:off x="640080" y="1188720"/>
            <a:ext cx="4023360" cy="2029968"/>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install-docker.sh : 5 étapes numérotées [1/5]–[5/5]</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uninstall-docker.sh : confirmation (oui/non)</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Supprime conteneurs, volumes, images, paquets, dépôt</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Retour à un système propre</a:t>
            </a:r>
            <a:endParaRPr lang="en-US" sz="1400" dirty="0"/>
          </a:p>
        </p:txBody>
      </p:sp>
      <p:sp>
        <p:nvSpPr>
          <p:cNvPr id="24" name="Shape 22"/>
          <p:cNvSpPr/>
          <p:nvPr/>
        </p:nvSpPr>
        <p:spPr>
          <a:xfrm>
            <a:off x="411480" y="3401568"/>
            <a:ext cx="4389120" cy="1005840"/>
          </a:xfrm>
          <a:prstGeom prst="rect">
            <a:avLst/>
          </a:prstGeom>
          <a:solidFill>
            <a:srgbClr val="0D1426"/>
          </a:solidFill>
          <a:ln w="12700">
            <a:solidFill>
              <a:srgbClr val="1E2B47"/>
            </a:solidFill>
            <a:prstDash val="solid"/>
          </a:ln>
        </p:spPr>
      </p:sp>
      <p:sp>
        <p:nvSpPr>
          <p:cNvPr id="25" name="Text 23"/>
          <p:cNvSpPr txBox="1"/>
          <p:nvPr/>
        </p:nvSpPr>
        <p:spPr>
          <a:xfrm>
            <a:off x="594360" y="3401568"/>
            <a:ext cx="4114800" cy="1005840"/>
          </a:xfrm>
          <a:prstGeom prst="rect">
            <a:avLst/>
          </a:prstGeom>
          <a:noFill/>
          <a:ln/>
        </p:spPr>
        <p:txBody>
          <a:bodyPr wrap="square" lIns="0" tIns="0" rIns="0" bIns="0" rtlCol="0" anchor="ctr"/>
          <a:lstStyle/>
          <a:p>
            <a:pPr indent="0" marL="0">
              <a:buNone/>
            </a:pPr>
            <a:r>
              <a:rPr lang="en-US" sz="1000" dirty="0">
                <a:solidFill>
                  <a:srgbClr val="34D399"/>
                </a:solidFill>
                <a:latin typeface="Courier New" pitchFamily="34" charset="0"/>
                <a:ea typeface="Courier New" pitchFamily="34" charset="-122"/>
                <a:cs typeface="Courier New" pitchFamily="34" charset="-120"/>
              </a:rPr>
              <a:t>$ sudo bash install-docker.sh</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sudo bash uninstall-docker.sh</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docker: command not found</a:t>
            </a:r>
            <a:endParaRPr lang="en-US" sz="1000" dirty="0"/>
          </a:p>
        </p:txBody>
      </p:sp>
      <p:pic>
        <p:nvPicPr>
          <p:cNvPr id="26" name="Image 0" descr="/tmp/job11/allimg/job10-install-fin.png">    </p:cNvPr>
          <p:cNvPicPr>
            <a:picLocks noChangeAspect="1"/>
          </p:cNvPicPr>
          <p:nvPr/>
        </p:nvPicPr>
        <p:blipFill>
          <a:blip r:embed="rId1"/>
          <a:stretch>
            <a:fillRect/>
          </a:stretch>
        </p:blipFill>
        <p:spPr>
          <a:xfrm>
            <a:off x="5699760" y="1188720"/>
            <a:ext cx="5425440" cy="4069080"/>
          </a:xfrm>
          <a:prstGeom prst="rect">
            <a:avLst/>
          </a:prstGeom>
        </p:spPr>
      </p:pic>
      <p:sp>
        <p:nvSpPr>
          <p:cNvPr id="27" name="Shape 24"/>
          <p:cNvSpPr/>
          <p:nvPr/>
        </p:nvSpPr>
        <p:spPr>
          <a:xfrm>
            <a:off x="5654040" y="1143000"/>
            <a:ext cx="164592" cy="0"/>
          </a:xfrm>
          <a:prstGeom prst="line">
            <a:avLst/>
          </a:prstGeom>
          <a:noFill/>
          <a:ln w="27940">
            <a:solidFill>
              <a:srgbClr val="F43F8E"/>
            </a:solidFill>
            <a:prstDash val="solid"/>
          </a:ln>
        </p:spPr>
      </p:sp>
      <p:sp>
        <p:nvSpPr>
          <p:cNvPr id="28" name="Shape 25"/>
          <p:cNvSpPr/>
          <p:nvPr/>
        </p:nvSpPr>
        <p:spPr>
          <a:xfrm>
            <a:off x="5654040" y="1143000"/>
            <a:ext cx="0" cy="164592"/>
          </a:xfrm>
          <a:prstGeom prst="line">
            <a:avLst/>
          </a:prstGeom>
          <a:noFill/>
          <a:ln w="27940">
            <a:solidFill>
              <a:srgbClr val="F43F8E"/>
            </a:solidFill>
            <a:prstDash val="solid"/>
          </a:ln>
        </p:spPr>
      </p:sp>
      <p:sp>
        <p:nvSpPr>
          <p:cNvPr id="29" name="Shape 26"/>
          <p:cNvSpPr/>
          <p:nvPr/>
        </p:nvSpPr>
        <p:spPr>
          <a:xfrm>
            <a:off x="11006328" y="5303520"/>
            <a:ext cx="164592" cy="0"/>
          </a:xfrm>
          <a:prstGeom prst="line">
            <a:avLst/>
          </a:prstGeom>
          <a:noFill/>
          <a:ln w="27940">
            <a:solidFill>
              <a:srgbClr val="22D3EE"/>
            </a:solidFill>
            <a:prstDash val="solid"/>
          </a:ln>
        </p:spPr>
      </p:sp>
      <p:sp>
        <p:nvSpPr>
          <p:cNvPr id="30" name="Shape 27"/>
          <p:cNvSpPr/>
          <p:nvPr/>
        </p:nvSpPr>
        <p:spPr>
          <a:xfrm>
            <a:off x="11170920" y="5138928"/>
            <a:ext cx="0" cy="164592"/>
          </a:xfrm>
          <a:prstGeom prst="line">
            <a:avLst/>
          </a:prstGeom>
          <a:noFill/>
          <a:ln w="27940">
            <a:solidFill>
              <a:srgbClr val="22D3EE"/>
            </a:solidFill>
            <a:prstDash val="solid"/>
          </a:ln>
        </p:spPr>
      </p:sp>
      <p:sp>
        <p:nvSpPr>
          <p:cNvPr id="31" name="Shape 28"/>
          <p:cNvSpPr/>
          <p:nvPr/>
        </p:nvSpPr>
        <p:spPr>
          <a:xfrm>
            <a:off x="411480" y="5486400"/>
            <a:ext cx="11338560" cy="731520"/>
          </a:xfrm>
          <a:prstGeom prst="rect">
            <a:avLst/>
          </a:prstGeom>
          <a:solidFill>
            <a:srgbClr val="1A0F1E"/>
          </a:solidFill>
          <a:ln w="15875">
            <a:solidFill>
              <a:srgbClr val="F43F8E"/>
            </a:solidFill>
            <a:prstDash val="solid"/>
          </a:ln>
        </p:spPr>
      </p:sp>
      <p:sp>
        <p:nvSpPr>
          <p:cNvPr id="32" name="Text 29"/>
          <p:cNvSpPr txBox="1"/>
          <p:nvPr/>
        </p:nvSpPr>
        <p:spPr>
          <a:xfrm>
            <a:off x="640080" y="5532120"/>
            <a:ext cx="3657600" cy="256032"/>
          </a:xfrm>
          <a:prstGeom prst="rect">
            <a:avLst/>
          </a:prstGeom>
          <a:noFill/>
          <a:ln/>
        </p:spPr>
        <p:txBody>
          <a:bodyPr wrap="square" lIns="0" tIns="0" rIns="0" bIns="0" rtlCol="0" anchor="ctr"/>
          <a:lstStyle/>
          <a:p>
            <a:pPr indent="0" marL="0">
              <a:buNone/>
            </a:pPr>
            <a:r>
              <a:rPr lang="en-US" sz="1100" b="1" spc="300" kern="0" dirty="0">
                <a:solidFill>
                  <a:srgbClr val="F43F8E"/>
                </a:solidFill>
                <a:latin typeface="Calibri" pitchFamily="34" charset="0"/>
                <a:ea typeface="Calibri" pitchFamily="34" charset="-122"/>
                <a:cs typeface="Calibri" pitchFamily="34" charset="-120"/>
              </a:rPr>
              <a:t>⚡ PROBLÈME RÉSOLU</a:t>
            </a:r>
            <a:endParaRPr lang="en-US" sz="1100" dirty="0"/>
          </a:p>
        </p:txBody>
      </p:sp>
      <p:sp>
        <p:nvSpPr>
          <p:cNvPr id="33" name="Text 30"/>
          <p:cNvSpPr txBox="1"/>
          <p:nvPr/>
        </p:nvSpPr>
        <p:spPr>
          <a:xfrm>
            <a:off x="640080" y="5806440"/>
            <a:ext cx="10881360" cy="365760"/>
          </a:xfrm>
          <a:prstGeom prst="rect">
            <a:avLst/>
          </a:prstGeom>
          <a:noFill/>
          <a:ln/>
        </p:spPr>
        <p:txBody>
          <a:bodyPr wrap="square" lIns="0" tIns="0" rIns="0" bIns="0" rtlCol="0" anchor="ctr"/>
          <a:lstStyle/>
          <a:p>
            <a:pPr indent="0" marL="0">
              <a:buNone/>
            </a:pPr>
            <a:r>
              <a:rPr lang="en-US" sz="1250" b="1" dirty="0">
                <a:solidFill>
                  <a:srgbClr val="F43F8E"/>
                </a:solidFill>
                <a:latin typeface="Calibri" pitchFamily="34" charset="0"/>
                <a:ea typeface="Calibri" pitchFamily="34" charset="-122"/>
                <a:cs typeface="Calibri" pitchFamily="34" charset="-120"/>
              </a:rPr>
              <a:t>Symptôme  </a:t>
            </a:r>
            <a:pPr indent="0" marL="0">
              <a:buNone/>
            </a:pPr>
            <a:r>
              <a:rPr lang="en-US" sz="1250" dirty="0">
                <a:solidFill>
                  <a:srgbClr val="E6EDF7"/>
                </a:solidFill>
                <a:latin typeface="Calibri" pitchFamily="34" charset="0"/>
                <a:ea typeface="Calibri" pitchFamily="34" charset="-122"/>
                <a:cs typeface="Calibri" pitchFamily="34" charset="-120"/>
              </a:rPr>
              <a:t>apt verrouillé par un autre processus     </a:t>
            </a:r>
            <a:pPr indent="0" marL="0">
              <a:buNone/>
            </a:pPr>
            <a:r>
              <a:rPr lang="en-US" sz="1250" b="1" dirty="0">
                <a:solidFill>
                  <a:srgbClr val="34D399"/>
                </a:solidFill>
                <a:latin typeface="Calibri" pitchFamily="34" charset="0"/>
                <a:ea typeface="Calibri" pitchFamily="34" charset="-122"/>
                <a:cs typeface="Calibri" pitchFamily="34" charset="-120"/>
              </a:rPr>
              <a:t>Solution  </a:t>
            </a:r>
            <a:pPr indent="0" marL="0">
              <a:buNone/>
            </a:pPr>
            <a:r>
              <a:rPr lang="en-US" sz="1250" dirty="0">
                <a:solidFill>
                  <a:srgbClr val="E6EDF7"/>
                </a:solidFill>
                <a:latin typeface="Calibri" pitchFamily="34" charset="0"/>
                <a:ea typeface="Calibri" pitchFamily="34" charset="-122"/>
                <a:cs typeface="Calibri" pitchFamily="34" charset="-120"/>
              </a:rPr>
              <a:t>DPkg::Lock::Timeout=120 dans la boucle de purge</a:t>
            </a:r>
            <a:endParaRPr lang="en-US" sz="1250" dirty="0"/>
          </a:p>
        </p:txBody>
      </p:sp>
      <p:sp>
        <p:nvSpPr>
          <p:cNvPr id="34" name="Text 31"/>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5" name="Text 32"/>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 / 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10 — Scripts install et uninstall (suite)</a:t>
            </a:r>
            <a:endParaRPr lang="en-US" sz="2600" dirty="0"/>
          </a:p>
        </p:txBody>
      </p:sp>
      <p:pic>
        <p:nvPicPr>
          <p:cNvPr id="22" name="Image 0" descr="/tmp/job11/allimg/job10-uninstall-2.png">    </p:cNvPr>
          <p:cNvPicPr>
            <a:picLocks noChangeAspect="1"/>
          </p:cNvPicPr>
          <p:nvPr/>
        </p:nvPicPr>
        <p:blipFill>
          <a:blip r:embed="rId1"/>
          <a:stretch>
            <a:fillRect/>
          </a:stretch>
        </p:blipFill>
        <p:spPr>
          <a:xfrm>
            <a:off x="3878283" y="1188720"/>
            <a:ext cx="4404955" cy="5029200"/>
          </a:xfrm>
          <a:prstGeom prst="rect">
            <a:avLst/>
          </a:prstGeom>
        </p:spPr>
      </p:pic>
      <p:sp>
        <p:nvSpPr>
          <p:cNvPr id="23" name="Shape 20"/>
          <p:cNvSpPr/>
          <p:nvPr/>
        </p:nvSpPr>
        <p:spPr>
          <a:xfrm>
            <a:off x="3832563" y="1143000"/>
            <a:ext cx="164592" cy="0"/>
          </a:xfrm>
          <a:prstGeom prst="line">
            <a:avLst/>
          </a:prstGeom>
          <a:noFill/>
          <a:ln w="27940">
            <a:solidFill>
              <a:srgbClr val="F43F8E"/>
            </a:solidFill>
            <a:prstDash val="solid"/>
          </a:ln>
        </p:spPr>
      </p:sp>
      <p:sp>
        <p:nvSpPr>
          <p:cNvPr id="24" name="Shape 21"/>
          <p:cNvSpPr/>
          <p:nvPr/>
        </p:nvSpPr>
        <p:spPr>
          <a:xfrm>
            <a:off x="3832563" y="1143000"/>
            <a:ext cx="0" cy="164592"/>
          </a:xfrm>
          <a:prstGeom prst="line">
            <a:avLst/>
          </a:prstGeom>
          <a:noFill/>
          <a:ln w="27940">
            <a:solidFill>
              <a:srgbClr val="F43F8E"/>
            </a:solidFill>
            <a:prstDash val="solid"/>
          </a:ln>
        </p:spPr>
      </p:sp>
      <p:sp>
        <p:nvSpPr>
          <p:cNvPr id="25" name="Shape 22"/>
          <p:cNvSpPr/>
          <p:nvPr/>
        </p:nvSpPr>
        <p:spPr>
          <a:xfrm>
            <a:off x="8164365" y="6263640"/>
            <a:ext cx="164592" cy="0"/>
          </a:xfrm>
          <a:prstGeom prst="line">
            <a:avLst/>
          </a:prstGeom>
          <a:noFill/>
          <a:ln w="27940">
            <a:solidFill>
              <a:srgbClr val="22D3EE"/>
            </a:solidFill>
            <a:prstDash val="solid"/>
          </a:ln>
        </p:spPr>
      </p:sp>
      <p:sp>
        <p:nvSpPr>
          <p:cNvPr id="26" name="Shape 23"/>
          <p:cNvSpPr/>
          <p:nvPr/>
        </p:nvSpPr>
        <p:spPr>
          <a:xfrm>
            <a:off x="8328957" y="6099048"/>
            <a:ext cx="0" cy="164592"/>
          </a:xfrm>
          <a:prstGeom prst="line">
            <a:avLst/>
          </a:prstGeom>
          <a:noFill/>
          <a:ln w="27940">
            <a:solidFill>
              <a:srgbClr val="22D3EE"/>
            </a:solidFill>
            <a:prstDash val="solid"/>
          </a:ln>
        </p:spPr>
      </p:sp>
      <p:sp>
        <p:nvSpPr>
          <p:cNvPr id="27" name="Text 24"/>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28" name="Text 25"/>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 / 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11 — Portainer : installation</a:t>
            </a:r>
            <a:endParaRPr lang="en-US" sz="2600" dirty="0"/>
          </a:p>
        </p:txBody>
      </p:sp>
      <p:sp>
        <p:nvSpPr>
          <p:cNvPr id="22" name="Shape 20"/>
          <p:cNvSpPr/>
          <p:nvPr/>
        </p:nvSpPr>
        <p:spPr>
          <a:xfrm>
            <a:off x="411480" y="1188720"/>
            <a:ext cx="4389120" cy="2029968"/>
          </a:xfrm>
          <a:prstGeom prst="rect">
            <a:avLst/>
          </a:prstGeom>
          <a:solidFill>
            <a:srgbClr val="111A2E"/>
          </a:solidFill>
          <a:ln w="12700">
            <a:solidFill>
              <a:srgbClr val="1E2B47"/>
            </a:solidFill>
            <a:prstDash val="solid"/>
          </a:ln>
        </p:spPr>
      </p:sp>
      <p:sp>
        <p:nvSpPr>
          <p:cNvPr id="23" name="Text 21"/>
          <p:cNvSpPr txBox="1"/>
          <p:nvPr/>
        </p:nvSpPr>
        <p:spPr>
          <a:xfrm>
            <a:off x="640080" y="1188720"/>
            <a:ext cx="4023360" cy="2029968"/>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Portainer CE : interface web de Docker</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Lui-même un conteneur, pilote docker.sock</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Compte admin créé dans les 5 minutes</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Environnement « local » à sélectionner</a:t>
            </a:r>
            <a:endParaRPr lang="en-US" sz="1400" dirty="0"/>
          </a:p>
        </p:txBody>
      </p:sp>
      <p:sp>
        <p:nvSpPr>
          <p:cNvPr id="24" name="Shape 22"/>
          <p:cNvSpPr/>
          <p:nvPr/>
        </p:nvSpPr>
        <p:spPr>
          <a:xfrm>
            <a:off x="411480" y="3401568"/>
            <a:ext cx="4389120" cy="1005840"/>
          </a:xfrm>
          <a:prstGeom prst="rect">
            <a:avLst/>
          </a:prstGeom>
          <a:solidFill>
            <a:srgbClr val="0D1426"/>
          </a:solidFill>
          <a:ln w="12700">
            <a:solidFill>
              <a:srgbClr val="1E2B47"/>
            </a:solidFill>
            <a:prstDash val="solid"/>
          </a:ln>
        </p:spPr>
      </p:sp>
      <p:sp>
        <p:nvSpPr>
          <p:cNvPr id="25" name="Text 23"/>
          <p:cNvSpPr txBox="1"/>
          <p:nvPr/>
        </p:nvSpPr>
        <p:spPr>
          <a:xfrm>
            <a:off x="594360" y="3401568"/>
            <a:ext cx="4114800" cy="1005840"/>
          </a:xfrm>
          <a:prstGeom prst="rect">
            <a:avLst/>
          </a:prstGeom>
          <a:noFill/>
          <a:ln/>
        </p:spPr>
        <p:txBody>
          <a:bodyPr wrap="square" lIns="0" tIns="0" rIns="0" bIns="0" rtlCol="0" anchor="ctr"/>
          <a:lstStyle/>
          <a:p>
            <a:pPr indent="0" marL="0">
              <a:buNone/>
            </a:pPr>
            <a:r>
              <a:rPr lang="en-US" sz="1000" dirty="0">
                <a:solidFill>
                  <a:srgbClr val="34D399"/>
                </a:solidFill>
                <a:latin typeface="Courier New" pitchFamily="34" charset="0"/>
                <a:ea typeface="Courier New" pitchFamily="34" charset="-122"/>
                <a:cs typeface="Courier New" pitchFamily="34" charset="-120"/>
              </a:rPr>
              <a:t>$ docker volume create portainer_data</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docker run -d -p 9443:9443 --name portainer --restart=always \</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-v /var/run/docker.sock:/var/run/docker.sock -v portainer_data:/data portainer/portainer-ce:lts</a:t>
            </a:r>
            <a:endParaRPr lang="en-US" sz="1000" dirty="0"/>
          </a:p>
        </p:txBody>
      </p:sp>
      <p:pic>
        <p:nvPicPr>
          <p:cNvPr id="26" name="Image 0" descr="/tmp/job11/allimg/job11-portainer-install.png">    </p:cNvPr>
          <p:cNvPicPr>
            <a:picLocks noChangeAspect="1"/>
          </p:cNvPicPr>
          <p:nvPr/>
        </p:nvPicPr>
        <p:blipFill>
          <a:blip r:embed="rId1"/>
          <a:stretch>
            <a:fillRect/>
          </a:stretch>
        </p:blipFill>
        <p:spPr>
          <a:xfrm>
            <a:off x="5202508" y="1188720"/>
            <a:ext cx="6419944" cy="4069080"/>
          </a:xfrm>
          <a:prstGeom prst="rect">
            <a:avLst/>
          </a:prstGeom>
        </p:spPr>
      </p:pic>
      <p:sp>
        <p:nvSpPr>
          <p:cNvPr id="27" name="Shape 24"/>
          <p:cNvSpPr/>
          <p:nvPr/>
        </p:nvSpPr>
        <p:spPr>
          <a:xfrm>
            <a:off x="5156788" y="1143000"/>
            <a:ext cx="164592" cy="0"/>
          </a:xfrm>
          <a:prstGeom prst="line">
            <a:avLst/>
          </a:prstGeom>
          <a:noFill/>
          <a:ln w="27940">
            <a:solidFill>
              <a:srgbClr val="F43F8E"/>
            </a:solidFill>
            <a:prstDash val="solid"/>
          </a:ln>
        </p:spPr>
      </p:sp>
      <p:sp>
        <p:nvSpPr>
          <p:cNvPr id="28" name="Shape 25"/>
          <p:cNvSpPr/>
          <p:nvPr/>
        </p:nvSpPr>
        <p:spPr>
          <a:xfrm>
            <a:off x="5156788" y="1143000"/>
            <a:ext cx="0" cy="164592"/>
          </a:xfrm>
          <a:prstGeom prst="line">
            <a:avLst/>
          </a:prstGeom>
          <a:noFill/>
          <a:ln w="27940">
            <a:solidFill>
              <a:srgbClr val="F43F8E"/>
            </a:solidFill>
            <a:prstDash val="solid"/>
          </a:ln>
        </p:spPr>
      </p:sp>
      <p:sp>
        <p:nvSpPr>
          <p:cNvPr id="29" name="Shape 26"/>
          <p:cNvSpPr/>
          <p:nvPr/>
        </p:nvSpPr>
        <p:spPr>
          <a:xfrm>
            <a:off x="11503580" y="5303520"/>
            <a:ext cx="164592" cy="0"/>
          </a:xfrm>
          <a:prstGeom prst="line">
            <a:avLst/>
          </a:prstGeom>
          <a:noFill/>
          <a:ln w="27940">
            <a:solidFill>
              <a:srgbClr val="22D3EE"/>
            </a:solidFill>
            <a:prstDash val="solid"/>
          </a:ln>
        </p:spPr>
      </p:sp>
      <p:sp>
        <p:nvSpPr>
          <p:cNvPr id="30" name="Shape 27"/>
          <p:cNvSpPr/>
          <p:nvPr/>
        </p:nvSpPr>
        <p:spPr>
          <a:xfrm>
            <a:off x="11668172" y="5138928"/>
            <a:ext cx="0" cy="164592"/>
          </a:xfrm>
          <a:prstGeom prst="line">
            <a:avLst/>
          </a:prstGeom>
          <a:noFill/>
          <a:ln w="27940">
            <a:solidFill>
              <a:srgbClr val="22D3EE"/>
            </a:solidFill>
            <a:prstDash val="solid"/>
          </a:ln>
        </p:spPr>
      </p:sp>
      <p:sp>
        <p:nvSpPr>
          <p:cNvPr id="31" name="Shape 28"/>
          <p:cNvSpPr/>
          <p:nvPr/>
        </p:nvSpPr>
        <p:spPr>
          <a:xfrm>
            <a:off x="411480" y="5486400"/>
            <a:ext cx="11338560" cy="731520"/>
          </a:xfrm>
          <a:prstGeom prst="rect">
            <a:avLst/>
          </a:prstGeom>
          <a:solidFill>
            <a:srgbClr val="1A0F1E"/>
          </a:solidFill>
          <a:ln w="15875">
            <a:solidFill>
              <a:srgbClr val="F43F8E"/>
            </a:solidFill>
            <a:prstDash val="solid"/>
          </a:ln>
        </p:spPr>
      </p:sp>
      <p:sp>
        <p:nvSpPr>
          <p:cNvPr id="32" name="Text 29"/>
          <p:cNvSpPr txBox="1"/>
          <p:nvPr/>
        </p:nvSpPr>
        <p:spPr>
          <a:xfrm>
            <a:off x="640080" y="5532120"/>
            <a:ext cx="3657600" cy="256032"/>
          </a:xfrm>
          <a:prstGeom prst="rect">
            <a:avLst/>
          </a:prstGeom>
          <a:noFill/>
          <a:ln/>
        </p:spPr>
        <p:txBody>
          <a:bodyPr wrap="square" lIns="0" tIns="0" rIns="0" bIns="0" rtlCol="0" anchor="ctr"/>
          <a:lstStyle/>
          <a:p>
            <a:pPr indent="0" marL="0">
              <a:buNone/>
            </a:pPr>
            <a:r>
              <a:rPr lang="en-US" sz="1100" b="1" spc="300" kern="0" dirty="0">
                <a:solidFill>
                  <a:srgbClr val="F43F8E"/>
                </a:solidFill>
                <a:latin typeface="Calibri" pitchFamily="34" charset="0"/>
                <a:ea typeface="Calibri" pitchFamily="34" charset="-122"/>
                <a:cs typeface="Calibri" pitchFamily="34" charset="-120"/>
              </a:rPr>
              <a:t>⚡ PROBLÈME RÉSOLU</a:t>
            </a:r>
            <a:endParaRPr lang="en-US" sz="1100" dirty="0"/>
          </a:p>
        </p:txBody>
      </p:sp>
      <p:sp>
        <p:nvSpPr>
          <p:cNvPr id="33" name="Text 30"/>
          <p:cNvSpPr txBox="1"/>
          <p:nvPr/>
        </p:nvSpPr>
        <p:spPr>
          <a:xfrm>
            <a:off x="640080" y="5806440"/>
            <a:ext cx="10881360" cy="365760"/>
          </a:xfrm>
          <a:prstGeom prst="rect">
            <a:avLst/>
          </a:prstGeom>
          <a:noFill/>
          <a:ln/>
        </p:spPr>
        <p:txBody>
          <a:bodyPr wrap="square" lIns="0" tIns="0" rIns="0" bIns="0" rtlCol="0" anchor="ctr"/>
          <a:lstStyle/>
          <a:p>
            <a:pPr indent="0" marL="0">
              <a:buNone/>
            </a:pPr>
            <a:r>
              <a:rPr lang="en-US" sz="1250" b="1" dirty="0">
                <a:solidFill>
                  <a:srgbClr val="F43F8E"/>
                </a:solidFill>
                <a:latin typeface="Calibri" pitchFamily="34" charset="0"/>
                <a:ea typeface="Calibri" pitchFamily="34" charset="-122"/>
                <a:cs typeface="Calibri" pitchFamily="34" charset="-120"/>
              </a:rPr>
              <a:t>Symptôme  </a:t>
            </a:r>
            <a:pPr indent="0" marL="0">
              <a:buNone/>
            </a:pPr>
            <a:r>
              <a:rPr lang="en-US" sz="1250" dirty="0">
                <a:solidFill>
                  <a:srgbClr val="E6EDF7"/>
                </a:solidFill>
                <a:latin typeface="Calibri" pitchFamily="34" charset="0"/>
                <a:ea typeface="Calibri" pitchFamily="34" charset="-122"/>
                <a:cs typeface="Calibri" pitchFamily="34" charset="-120"/>
              </a:rPr>
              <a:t>docker.sock monté = accès root à l'hôte     </a:t>
            </a:r>
            <a:pPr indent="0" marL="0">
              <a:buNone/>
            </a:pPr>
            <a:r>
              <a:rPr lang="en-US" sz="1250" b="1" dirty="0">
                <a:solidFill>
                  <a:srgbClr val="34D399"/>
                </a:solidFill>
                <a:latin typeface="Calibri" pitchFamily="34" charset="0"/>
                <a:ea typeface="Calibri" pitchFamily="34" charset="-122"/>
                <a:cs typeface="Calibri" pitchFamily="34" charset="-120"/>
              </a:rPr>
              <a:t>Solution  </a:t>
            </a:r>
            <a:pPr indent="0" marL="0">
              <a:buNone/>
            </a:pPr>
            <a:r>
              <a:rPr lang="en-US" sz="1250" dirty="0">
                <a:solidFill>
                  <a:srgbClr val="E6EDF7"/>
                </a:solidFill>
                <a:latin typeface="Calibri" pitchFamily="34" charset="0"/>
                <a:ea typeface="Calibri" pitchFamily="34" charset="-122"/>
                <a:cs typeface="Calibri" pitchFamily="34" charset="-120"/>
              </a:rPr>
              <a:t>Mot de passe fort, port 9443 non exposé</a:t>
            </a:r>
            <a:endParaRPr lang="en-US" sz="1250" dirty="0"/>
          </a:p>
        </p:txBody>
      </p:sp>
      <p:sp>
        <p:nvSpPr>
          <p:cNvPr id="34" name="Text 31"/>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5" name="Text 32"/>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 / 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11 — Portainer : installation (suite)</a:t>
            </a:r>
            <a:endParaRPr lang="en-US" sz="2600" dirty="0"/>
          </a:p>
        </p:txBody>
      </p:sp>
      <p:pic>
        <p:nvPicPr>
          <p:cNvPr id="22" name="Image 0" descr="/tmp/job11/allimg/job11-job02-logs.png">    </p:cNvPr>
          <p:cNvPicPr>
            <a:picLocks noChangeAspect="1"/>
          </p:cNvPicPr>
          <p:nvPr/>
        </p:nvPicPr>
        <p:blipFill>
          <a:blip r:embed="rId1"/>
          <a:stretch>
            <a:fillRect/>
          </a:stretch>
        </p:blipFill>
        <p:spPr>
          <a:xfrm>
            <a:off x="1901535" y="1188720"/>
            <a:ext cx="8358451" cy="5029200"/>
          </a:xfrm>
          <a:prstGeom prst="rect">
            <a:avLst/>
          </a:prstGeom>
        </p:spPr>
      </p:pic>
      <p:sp>
        <p:nvSpPr>
          <p:cNvPr id="23" name="Shape 20"/>
          <p:cNvSpPr/>
          <p:nvPr/>
        </p:nvSpPr>
        <p:spPr>
          <a:xfrm>
            <a:off x="1855815" y="1143000"/>
            <a:ext cx="164592" cy="0"/>
          </a:xfrm>
          <a:prstGeom prst="line">
            <a:avLst/>
          </a:prstGeom>
          <a:noFill/>
          <a:ln w="27940">
            <a:solidFill>
              <a:srgbClr val="F43F8E"/>
            </a:solidFill>
            <a:prstDash val="solid"/>
          </a:ln>
        </p:spPr>
      </p:sp>
      <p:sp>
        <p:nvSpPr>
          <p:cNvPr id="24" name="Shape 21"/>
          <p:cNvSpPr/>
          <p:nvPr/>
        </p:nvSpPr>
        <p:spPr>
          <a:xfrm>
            <a:off x="1855815" y="1143000"/>
            <a:ext cx="0" cy="164592"/>
          </a:xfrm>
          <a:prstGeom prst="line">
            <a:avLst/>
          </a:prstGeom>
          <a:noFill/>
          <a:ln w="27940">
            <a:solidFill>
              <a:srgbClr val="F43F8E"/>
            </a:solidFill>
            <a:prstDash val="solid"/>
          </a:ln>
        </p:spPr>
      </p:sp>
      <p:sp>
        <p:nvSpPr>
          <p:cNvPr id="25" name="Shape 22"/>
          <p:cNvSpPr/>
          <p:nvPr/>
        </p:nvSpPr>
        <p:spPr>
          <a:xfrm>
            <a:off x="10141113" y="6263640"/>
            <a:ext cx="164592" cy="0"/>
          </a:xfrm>
          <a:prstGeom prst="line">
            <a:avLst/>
          </a:prstGeom>
          <a:noFill/>
          <a:ln w="27940">
            <a:solidFill>
              <a:srgbClr val="22D3EE"/>
            </a:solidFill>
            <a:prstDash val="solid"/>
          </a:ln>
        </p:spPr>
      </p:sp>
      <p:sp>
        <p:nvSpPr>
          <p:cNvPr id="26" name="Shape 23"/>
          <p:cNvSpPr/>
          <p:nvPr/>
        </p:nvSpPr>
        <p:spPr>
          <a:xfrm>
            <a:off x="10305705" y="6099048"/>
            <a:ext cx="0" cy="164592"/>
          </a:xfrm>
          <a:prstGeom prst="line">
            <a:avLst/>
          </a:prstGeom>
          <a:noFill/>
          <a:ln w="27940">
            <a:solidFill>
              <a:srgbClr val="22D3EE"/>
            </a:solidFill>
            <a:prstDash val="solid"/>
          </a:ln>
        </p:spPr>
      </p:sp>
      <p:sp>
        <p:nvSpPr>
          <p:cNvPr id="27" name="Text 24"/>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28" name="Text 25"/>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 / 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11 — Refaire les jobs 3, 4 et 6</a:t>
            </a:r>
            <a:endParaRPr lang="en-US" sz="2600" dirty="0"/>
          </a:p>
        </p:txBody>
      </p:sp>
      <p:sp>
        <p:nvSpPr>
          <p:cNvPr id="22" name="Shape 20"/>
          <p:cNvSpPr/>
          <p:nvPr/>
        </p:nvSpPr>
        <p:spPr>
          <a:xfrm>
            <a:off x="411480" y="1188720"/>
            <a:ext cx="4389120" cy="1591056"/>
          </a:xfrm>
          <a:prstGeom prst="rect">
            <a:avLst/>
          </a:prstGeom>
          <a:solidFill>
            <a:srgbClr val="111A2E"/>
          </a:solidFill>
          <a:ln w="12700">
            <a:solidFill>
              <a:srgbClr val="1E2B47"/>
            </a:solidFill>
            <a:prstDash val="solid"/>
          </a:ln>
        </p:spPr>
      </p:sp>
      <p:sp>
        <p:nvSpPr>
          <p:cNvPr id="23" name="Text 21"/>
          <p:cNvSpPr txBox="1"/>
          <p:nvPr/>
        </p:nvSpPr>
        <p:spPr>
          <a:xfrm>
            <a:off x="640080" y="1188720"/>
            <a:ext cx="4023360" cy="1591056"/>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Job 3 : build via archive .tar (Dockerfile à la racine)</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Job 4 : build en web editor, port 2222 → 22</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Job 6 : volume partagé par c1 et c2, console web</a:t>
            </a:r>
            <a:endParaRPr lang="en-US" sz="1400" dirty="0"/>
          </a:p>
        </p:txBody>
      </p:sp>
      <p:sp>
        <p:nvSpPr>
          <p:cNvPr id="24" name="Shape 22"/>
          <p:cNvSpPr/>
          <p:nvPr/>
        </p:nvSpPr>
        <p:spPr>
          <a:xfrm>
            <a:off x="411480" y="2962656"/>
            <a:ext cx="4389120" cy="1005840"/>
          </a:xfrm>
          <a:prstGeom prst="rect">
            <a:avLst/>
          </a:prstGeom>
          <a:solidFill>
            <a:srgbClr val="0D1426"/>
          </a:solidFill>
          <a:ln w="12700">
            <a:solidFill>
              <a:srgbClr val="1E2B47"/>
            </a:solidFill>
            <a:prstDash val="solid"/>
          </a:ln>
        </p:spPr>
      </p:sp>
      <p:sp>
        <p:nvSpPr>
          <p:cNvPr id="25" name="Text 23"/>
          <p:cNvSpPr txBox="1"/>
          <p:nvPr/>
        </p:nvSpPr>
        <p:spPr>
          <a:xfrm>
            <a:off x="594360" y="2962656"/>
            <a:ext cx="4114800" cy="1005840"/>
          </a:xfrm>
          <a:prstGeom prst="rect">
            <a:avLst/>
          </a:prstGeom>
          <a:noFill/>
          <a:ln/>
        </p:spPr>
        <p:txBody>
          <a:bodyPr wrap="square" lIns="0" tIns="0" rIns="0" bIns="0" rtlCol="0" anchor="ctr"/>
          <a:lstStyle/>
          <a:p>
            <a:pPr indent="0" marL="0">
              <a:buNone/>
            </a:pPr>
            <a:r>
              <a:rPr lang="en-US" sz="1000" dirty="0">
                <a:solidFill>
                  <a:srgbClr val="34D399"/>
                </a:solidFill>
                <a:latin typeface="Courier New" pitchFamily="34" charset="0"/>
                <a:ea typeface="Courier New" pitchFamily="34" charset="-122"/>
                <a:cs typeface="Courier New" pitchFamily="34" charset="-120"/>
              </a:rPr>
              <a:t>$ Images → Build a new image</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Containers → Add container</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Volumes → Add volume</a:t>
            </a:r>
            <a:endParaRPr lang="en-US" sz="1000" dirty="0"/>
          </a:p>
        </p:txBody>
      </p:sp>
      <p:pic>
        <p:nvPicPr>
          <p:cNvPr id="26" name="Image 0" descr="/tmp/job11/allimg/job11-job03-build-sortie.png">    </p:cNvPr>
          <p:cNvPicPr>
            <a:picLocks noChangeAspect="1"/>
          </p:cNvPicPr>
          <p:nvPr/>
        </p:nvPicPr>
        <p:blipFill>
          <a:blip r:embed="rId1"/>
          <a:stretch>
            <a:fillRect/>
          </a:stretch>
        </p:blipFill>
        <p:spPr>
          <a:xfrm>
            <a:off x="5074920" y="2258523"/>
            <a:ext cx="6675120" cy="2935313"/>
          </a:xfrm>
          <a:prstGeom prst="rect">
            <a:avLst/>
          </a:prstGeom>
        </p:spPr>
      </p:pic>
      <p:sp>
        <p:nvSpPr>
          <p:cNvPr id="27" name="Shape 24"/>
          <p:cNvSpPr/>
          <p:nvPr/>
        </p:nvSpPr>
        <p:spPr>
          <a:xfrm>
            <a:off x="5029200" y="2212803"/>
            <a:ext cx="164592" cy="0"/>
          </a:xfrm>
          <a:prstGeom prst="line">
            <a:avLst/>
          </a:prstGeom>
          <a:noFill/>
          <a:ln w="27940">
            <a:solidFill>
              <a:srgbClr val="F43F8E"/>
            </a:solidFill>
            <a:prstDash val="solid"/>
          </a:ln>
        </p:spPr>
      </p:sp>
      <p:sp>
        <p:nvSpPr>
          <p:cNvPr id="28" name="Shape 25"/>
          <p:cNvSpPr/>
          <p:nvPr/>
        </p:nvSpPr>
        <p:spPr>
          <a:xfrm>
            <a:off x="5029200" y="2212803"/>
            <a:ext cx="0" cy="164592"/>
          </a:xfrm>
          <a:prstGeom prst="line">
            <a:avLst/>
          </a:prstGeom>
          <a:noFill/>
          <a:ln w="27940">
            <a:solidFill>
              <a:srgbClr val="F43F8E"/>
            </a:solidFill>
            <a:prstDash val="solid"/>
          </a:ln>
        </p:spPr>
      </p:sp>
      <p:sp>
        <p:nvSpPr>
          <p:cNvPr id="29" name="Shape 26"/>
          <p:cNvSpPr/>
          <p:nvPr/>
        </p:nvSpPr>
        <p:spPr>
          <a:xfrm>
            <a:off x="11631168" y="5239557"/>
            <a:ext cx="164592" cy="0"/>
          </a:xfrm>
          <a:prstGeom prst="line">
            <a:avLst/>
          </a:prstGeom>
          <a:noFill/>
          <a:ln w="27940">
            <a:solidFill>
              <a:srgbClr val="22D3EE"/>
            </a:solidFill>
            <a:prstDash val="solid"/>
          </a:ln>
        </p:spPr>
      </p:sp>
      <p:sp>
        <p:nvSpPr>
          <p:cNvPr id="30" name="Shape 27"/>
          <p:cNvSpPr/>
          <p:nvPr/>
        </p:nvSpPr>
        <p:spPr>
          <a:xfrm>
            <a:off x="11795760" y="5074965"/>
            <a:ext cx="0" cy="164592"/>
          </a:xfrm>
          <a:prstGeom prst="line">
            <a:avLst/>
          </a:prstGeom>
          <a:noFill/>
          <a:ln w="27940">
            <a:solidFill>
              <a:srgbClr val="22D3EE"/>
            </a:solidFill>
            <a:prstDash val="solid"/>
          </a:ln>
        </p:spPr>
      </p:sp>
      <p:sp>
        <p:nvSpPr>
          <p:cNvPr id="31" name="Text 28"/>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2" name="Text 29"/>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 / 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11 — Refaire les jobs 3, 4 et 6 (suite)</a:t>
            </a:r>
            <a:endParaRPr lang="en-US" sz="2600" dirty="0"/>
          </a:p>
        </p:txBody>
      </p:sp>
      <p:pic>
        <p:nvPicPr>
          <p:cNvPr id="22" name="Image 0" descr="/tmp/job11/allimg/job11-job04-conteneurs.png">    </p:cNvPr>
          <p:cNvPicPr>
            <a:picLocks noChangeAspect="1"/>
          </p:cNvPicPr>
          <p:nvPr/>
        </p:nvPicPr>
        <p:blipFill>
          <a:blip r:embed="rId1"/>
          <a:stretch>
            <a:fillRect/>
          </a:stretch>
        </p:blipFill>
        <p:spPr>
          <a:xfrm>
            <a:off x="2788920" y="1188720"/>
            <a:ext cx="6583680" cy="2377440"/>
          </a:xfrm>
          <a:prstGeom prst="rect">
            <a:avLst/>
          </a:prstGeom>
        </p:spPr>
      </p:pic>
      <p:sp>
        <p:nvSpPr>
          <p:cNvPr id="23" name="Shape 20"/>
          <p:cNvSpPr/>
          <p:nvPr/>
        </p:nvSpPr>
        <p:spPr>
          <a:xfrm>
            <a:off x="2743200" y="1143000"/>
            <a:ext cx="164592" cy="0"/>
          </a:xfrm>
          <a:prstGeom prst="line">
            <a:avLst/>
          </a:prstGeom>
          <a:noFill/>
          <a:ln w="27940">
            <a:solidFill>
              <a:srgbClr val="F43F8E"/>
            </a:solidFill>
            <a:prstDash val="solid"/>
          </a:ln>
        </p:spPr>
      </p:sp>
      <p:sp>
        <p:nvSpPr>
          <p:cNvPr id="24" name="Shape 21"/>
          <p:cNvSpPr/>
          <p:nvPr/>
        </p:nvSpPr>
        <p:spPr>
          <a:xfrm>
            <a:off x="2743200" y="1143000"/>
            <a:ext cx="0" cy="164592"/>
          </a:xfrm>
          <a:prstGeom prst="line">
            <a:avLst/>
          </a:prstGeom>
          <a:noFill/>
          <a:ln w="27940">
            <a:solidFill>
              <a:srgbClr val="F43F8E"/>
            </a:solidFill>
            <a:prstDash val="solid"/>
          </a:ln>
        </p:spPr>
      </p:sp>
      <p:sp>
        <p:nvSpPr>
          <p:cNvPr id="25" name="Shape 22"/>
          <p:cNvSpPr/>
          <p:nvPr/>
        </p:nvSpPr>
        <p:spPr>
          <a:xfrm>
            <a:off x="9253728" y="3611880"/>
            <a:ext cx="164592" cy="0"/>
          </a:xfrm>
          <a:prstGeom prst="line">
            <a:avLst/>
          </a:prstGeom>
          <a:noFill/>
          <a:ln w="27940">
            <a:solidFill>
              <a:srgbClr val="22D3EE"/>
            </a:solidFill>
            <a:prstDash val="solid"/>
          </a:ln>
        </p:spPr>
      </p:sp>
      <p:sp>
        <p:nvSpPr>
          <p:cNvPr id="26" name="Shape 23"/>
          <p:cNvSpPr/>
          <p:nvPr/>
        </p:nvSpPr>
        <p:spPr>
          <a:xfrm>
            <a:off x="9418320" y="3447288"/>
            <a:ext cx="0" cy="164592"/>
          </a:xfrm>
          <a:prstGeom prst="line">
            <a:avLst/>
          </a:prstGeom>
          <a:noFill/>
          <a:ln w="27940">
            <a:solidFill>
              <a:srgbClr val="22D3EE"/>
            </a:solidFill>
            <a:prstDash val="solid"/>
          </a:ln>
        </p:spPr>
      </p:sp>
      <p:pic>
        <p:nvPicPr>
          <p:cNvPr id="27" name="Image 1" descr="/tmp/job11/allimg/job11-job06-conteneurs.png">    </p:cNvPr>
          <p:cNvPicPr>
            <a:picLocks noChangeAspect="1"/>
          </p:cNvPicPr>
          <p:nvPr/>
        </p:nvPicPr>
        <p:blipFill>
          <a:blip r:embed="rId2"/>
          <a:stretch>
            <a:fillRect/>
          </a:stretch>
        </p:blipFill>
        <p:spPr>
          <a:xfrm>
            <a:off x="3414407" y="3840480"/>
            <a:ext cx="5332706" cy="2377440"/>
          </a:xfrm>
          <a:prstGeom prst="rect">
            <a:avLst/>
          </a:prstGeom>
        </p:spPr>
      </p:pic>
      <p:sp>
        <p:nvSpPr>
          <p:cNvPr id="28" name="Shape 24"/>
          <p:cNvSpPr/>
          <p:nvPr/>
        </p:nvSpPr>
        <p:spPr>
          <a:xfrm>
            <a:off x="3368687" y="3794760"/>
            <a:ext cx="164592" cy="0"/>
          </a:xfrm>
          <a:prstGeom prst="line">
            <a:avLst/>
          </a:prstGeom>
          <a:noFill/>
          <a:ln w="27940">
            <a:solidFill>
              <a:srgbClr val="F43F8E"/>
            </a:solidFill>
            <a:prstDash val="solid"/>
          </a:ln>
        </p:spPr>
      </p:sp>
      <p:sp>
        <p:nvSpPr>
          <p:cNvPr id="29" name="Shape 25"/>
          <p:cNvSpPr/>
          <p:nvPr/>
        </p:nvSpPr>
        <p:spPr>
          <a:xfrm>
            <a:off x="3368687" y="3794760"/>
            <a:ext cx="0" cy="164592"/>
          </a:xfrm>
          <a:prstGeom prst="line">
            <a:avLst/>
          </a:prstGeom>
          <a:noFill/>
          <a:ln w="27940">
            <a:solidFill>
              <a:srgbClr val="F43F8E"/>
            </a:solidFill>
            <a:prstDash val="solid"/>
          </a:ln>
        </p:spPr>
      </p:sp>
      <p:sp>
        <p:nvSpPr>
          <p:cNvPr id="30" name="Shape 26"/>
          <p:cNvSpPr/>
          <p:nvPr/>
        </p:nvSpPr>
        <p:spPr>
          <a:xfrm>
            <a:off x="8628241" y="6263640"/>
            <a:ext cx="164592" cy="0"/>
          </a:xfrm>
          <a:prstGeom prst="line">
            <a:avLst/>
          </a:prstGeom>
          <a:noFill/>
          <a:ln w="27940">
            <a:solidFill>
              <a:srgbClr val="22D3EE"/>
            </a:solidFill>
            <a:prstDash val="solid"/>
          </a:ln>
        </p:spPr>
      </p:sp>
      <p:sp>
        <p:nvSpPr>
          <p:cNvPr id="31" name="Shape 27"/>
          <p:cNvSpPr/>
          <p:nvPr/>
        </p:nvSpPr>
        <p:spPr>
          <a:xfrm>
            <a:off x="8792833" y="6099048"/>
            <a:ext cx="0" cy="164592"/>
          </a:xfrm>
          <a:prstGeom prst="line">
            <a:avLst/>
          </a:prstGeom>
          <a:noFill/>
          <a:ln w="27940">
            <a:solidFill>
              <a:srgbClr val="22D3EE"/>
            </a:solidFill>
            <a:prstDash val="solid"/>
          </a:ln>
        </p:spPr>
      </p:sp>
      <p:sp>
        <p:nvSpPr>
          <p:cNvPr id="32" name="Text 28"/>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3" name="Text 29"/>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 / 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11 — Refaire les jobs 7, 8 et 9</a:t>
            </a:r>
            <a:endParaRPr lang="en-US" sz="2600" dirty="0"/>
          </a:p>
        </p:txBody>
      </p:sp>
      <p:sp>
        <p:nvSpPr>
          <p:cNvPr id="22" name="Shape 20"/>
          <p:cNvSpPr/>
          <p:nvPr/>
        </p:nvSpPr>
        <p:spPr>
          <a:xfrm>
            <a:off x="411480" y="1188720"/>
            <a:ext cx="4389120" cy="2029968"/>
          </a:xfrm>
          <a:prstGeom prst="rect">
            <a:avLst/>
          </a:prstGeom>
          <a:solidFill>
            <a:srgbClr val="111A2E"/>
          </a:solidFill>
          <a:ln w="12700">
            <a:solidFill>
              <a:srgbClr val="1E2B47"/>
            </a:solidFill>
            <a:prstDash val="solid"/>
          </a:ln>
        </p:spPr>
      </p:sp>
      <p:sp>
        <p:nvSpPr>
          <p:cNvPr id="23" name="Text 21"/>
          <p:cNvSpPr txBox="1"/>
          <p:nvPr/>
        </p:nvSpPr>
        <p:spPr>
          <a:xfrm>
            <a:off x="640080" y="1188720"/>
            <a:ext cx="4023360" cy="2029968"/>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Job 7 : stack Compose dans le web editor</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Job 8 : build + conteneur 8081 → 80</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Job 9 : stack registry + registry local déclaré</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 Always pull the image » désactivé pour les images locales</a:t>
            </a:r>
            <a:endParaRPr lang="en-US" sz="1400" dirty="0"/>
          </a:p>
        </p:txBody>
      </p:sp>
      <p:sp>
        <p:nvSpPr>
          <p:cNvPr id="24" name="Shape 22"/>
          <p:cNvSpPr/>
          <p:nvPr/>
        </p:nvSpPr>
        <p:spPr>
          <a:xfrm>
            <a:off x="411480" y="3401568"/>
            <a:ext cx="4389120" cy="731520"/>
          </a:xfrm>
          <a:prstGeom prst="rect">
            <a:avLst/>
          </a:prstGeom>
          <a:solidFill>
            <a:srgbClr val="0D1426"/>
          </a:solidFill>
          <a:ln w="12700">
            <a:solidFill>
              <a:srgbClr val="1E2B47"/>
            </a:solidFill>
            <a:prstDash val="solid"/>
          </a:ln>
        </p:spPr>
      </p:sp>
      <p:sp>
        <p:nvSpPr>
          <p:cNvPr id="25" name="Text 23"/>
          <p:cNvSpPr txBox="1"/>
          <p:nvPr/>
        </p:nvSpPr>
        <p:spPr>
          <a:xfrm>
            <a:off x="594360" y="3401568"/>
            <a:ext cx="4114800" cy="731520"/>
          </a:xfrm>
          <a:prstGeom prst="rect">
            <a:avLst/>
          </a:prstGeom>
          <a:noFill/>
          <a:ln/>
        </p:spPr>
        <p:txBody>
          <a:bodyPr wrap="square" lIns="0" tIns="0" rIns="0" bIns="0" rtlCol="0" anchor="ctr"/>
          <a:lstStyle/>
          <a:p>
            <a:pPr indent="0" marL="0">
              <a:buNone/>
            </a:pPr>
            <a:r>
              <a:rPr lang="en-US" sz="1000" dirty="0">
                <a:solidFill>
                  <a:srgbClr val="34D399"/>
                </a:solidFill>
                <a:latin typeface="Courier New" pitchFamily="34" charset="0"/>
                <a:ea typeface="Courier New" pitchFamily="34" charset="-122"/>
                <a:cs typeface="Courier New" pitchFamily="34" charset="-120"/>
              </a:rPr>
              <a:t>$ Stacks → Add stack (web editor)</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Registries → Add registry → Custom</a:t>
            </a:r>
            <a:endParaRPr lang="en-US" sz="1000" dirty="0"/>
          </a:p>
        </p:txBody>
      </p:sp>
      <p:pic>
        <p:nvPicPr>
          <p:cNvPr id="26" name="Image 0" descr="/tmp/job11/allimg/job11-job07-stack.png">    </p:cNvPr>
          <p:cNvPicPr>
            <a:picLocks noChangeAspect="1"/>
          </p:cNvPicPr>
          <p:nvPr/>
        </p:nvPicPr>
        <p:blipFill>
          <a:blip r:embed="rId1"/>
          <a:stretch>
            <a:fillRect/>
          </a:stretch>
        </p:blipFill>
        <p:spPr>
          <a:xfrm>
            <a:off x="5133766" y="1188720"/>
            <a:ext cx="6557429" cy="4069080"/>
          </a:xfrm>
          <a:prstGeom prst="rect">
            <a:avLst/>
          </a:prstGeom>
        </p:spPr>
      </p:pic>
      <p:sp>
        <p:nvSpPr>
          <p:cNvPr id="27" name="Shape 24"/>
          <p:cNvSpPr/>
          <p:nvPr/>
        </p:nvSpPr>
        <p:spPr>
          <a:xfrm>
            <a:off x="5088046" y="1143000"/>
            <a:ext cx="164592" cy="0"/>
          </a:xfrm>
          <a:prstGeom prst="line">
            <a:avLst/>
          </a:prstGeom>
          <a:noFill/>
          <a:ln w="27940">
            <a:solidFill>
              <a:srgbClr val="F43F8E"/>
            </a:solidFill>
            <a:prstDash val="solid"/>
          </a:ln>
        </p:spPr>
      </p:sp>
      <p:sp>
        <p:nvSpPr>
          <p:cNvPr id="28" name="Shape 25"/>
          <p:cNvSpPr/>
          <p:nvPr/>
        </p:nvSpPr>
        <p:spPr>
          <a:xfrm>
            <a:off x="5088046" y="1143000"/>
            <a:ext cx="0" cy="164592"/>
          </a:xfrm>
          <a:prstGeom prst="line">
            <a:avLst/>
          </a:prstGeom>
          <a:noFill/>
          <a:ln w="27940">
            <a:solidFill>
              <a:srgbClr val="F43F8E"/>
            </a:solidFill>
            <a:prstDash val="solid"/>
          </a:ln>
        </p:spPr>
      </p:sp>
      <p:sp>
        <p:nvSpPr>
          <p:cNvPr id="29" name="Shape 26"/>
          <p:cNvSpPr/>
          <p:nvPr/>
        </p:nvSpPr>
        <p:spPr>
          <a:xfrm>
            <a:off x="11572322" y="5303520"/>
            <a:ext cx="164592" cy="0"/>
          </a:xfrm>
          <a:prstGeom prst="line">
            <a:avLst/>
          </a:prstGeom>
          <a:noFill/>
          <a:ln w="27940">
            <a:solidFill>
              <a:srgbClr val="22D3EE"/>
            </a:solidFill>
            <a:prstDash val="solid"/>
          </a:ln>
        </p:spPr>
      </p:sp>
      <p:sp>
        <p:nvSpPr>
          <p:cNvPr id="30" name="Shape 27"/>
          <p:cNvSpPr/>
          <p:nvPr/>
        </p:nvSpPr>
        <p:spPr>
          <a:xfrm>
            <a:off x="11736914" y="5138928"/>
            <a:ext cx="0" cy="164592"/>
          </a:xfrm>
          <a:prstGeom prst="line">
            <a:avLst/>
          </a:prstGeom>
          <a:noFill/>
          <a:ln w="27940">
            <a:solidFill>
              <a:srgbClr val="22D3EE"/>
            </a:solidFill>
            <a:prstDash val="solid"/>
          </a:ln>
        </p:spPr>
      </p:sp>
      <p:sp>
        <p:nvSpPr>
          <p:cNvPr id="31" name="Shape 28"/>
          <p:cNvSpPr/>
          <p:nvPr/>
        </p:nvSpPr>
        <p:spPr>
          <a:xfrm>
            <a:off x="411480" y="5486400"/>
            <a:ext cx="11338560" cy="731520"/>
          </a:xfrm>
          <a:prstGeom prst="rect">
            <a:avLst/>
          </a:prstGeom>
          <a:solidFill>
            <a:srgbClr val="1A0F1E"/>
          </a:solidFill>
          <a:ln w="15875">
            <a:solidFill>
              <a:srgbClr val="F43F8E"/>
            </a:solidFill>
            <a:prstDash val="solid"/>
          </a:ln>
        </p:spPr>
      </p:sp>
      <p:sp>
        <p:nvSpPr>
          <p:cNvPr id="32" name="Text 29"/>
          <p:cNvSpPr txBox="1"/>
          <p:nvPr/>
        </p:nvSpPr>
        <p:spPr>
          <a:xfrm>
            <a:off x="640080" y="5532120"/>
            <a:ext cx="3657600" cy="256032"/>
          </a:xfrm>
          <a:prstGeom prst="rect">
            <a:avLst/>
          </a:prstGeom>
          <a:noFill/>
          <a:ln/>
        </p:spPr>
        <p:txBody>
          <a:bodyPr wrap="square" lIns="0" tIns="0" rIns="0" bIns="0" rtlCol="0" anchor="ctr"/>
          <a:lstStyle/>
          <a:p>
            <a:pPr indent="0" marL="0">
              <a:buNone/>
            </a:pPr>
            <a:r>
              <a:rPr lang="en-US" sz="1100" b="1" spc="300" kern="0" dirty="0">
                <a:solidFill>
                  <a:srgbClr val="F43F8E"/>
                </a:solidFill>
                <a:latin typeface="Calibri" pitchFamily="34" charset="0"/>
                <a:ea typeface="Calibri" pitchFamily="34" charset="-122"/>
                <a:cs typeface="Calibri" pitchFamily="34" charset="-120"/>
              </a:rPr>
              <a:t>⚡ PROBLÈME RÉSOLU</a:t>
            </a:r>
            <a:endParaRPr lang="en-US" sz="1100" dirty="0"/>
          </a:p>
        </p:txBody>
      </p:sp>
      <p:sp>
        <p:nvSpPr>
          <p:cNvPr id="33" name="Text 30"/>
          <p:cNvSpPr txBox="1"/>
          <p:nvPr/>
        </p:nvSpPr>
        <p:spPr>
          <a:xfrm>
            <a:off x="640080" y="5806440"/>
            <a:ext cx="10881360" cy="365760"/>
          </a:xfrm>
          <a:prstGeom prst="rect">
            <a:avLst/>
          </a:prstGeom>
          <a:noFill/>
          <a:ln/>
        </p:spPr>
        <p:txBody>
          <a:bodyPr wrap="square" lIns="0" tIns="0" rIns="0" bIns="0" rtlCol="0" anchor="ctr"/>
          <a:lstStyle/>
          <a:p>
            <a:pPr indent="0" marL="0">
              <a:buNone/>
            </a:pPr>
            <a:r>
              <a:rPr lang="en-US" sz="1250" b="1" dirty="0">
                <a:solidFill>
                  <a:srgbClr val="F43F8E"/>
                </a:solidFill>
                <a:latin typeface="Calibri" pitchFamily="34" charset="0"/>
                <a:ea typeface="Calibri" pitchFamily="34" charset="-122"/>
                <a:cs typeface="Calibri" pitchFamily="34" charset="-120"/>
              </a:rPr>
              <a:t>Symptôme  </a:t>
            </a:r>
            <a:pPr indent="0" marL="0">
              <a:buNone/>
            </a:pPr>
            <a:r>
              <a:rPr lang="en-US" sz="1250" dirty="0">
                <a:solidFill>
                  <a:srgbClr val="E6EDF7"/>
                </a:solidFill>
                <a:latin typeface="Calibri" pitchFamily="34" charset="0"/>
                <a:ea typeface="Calibri" pitchFamily="34" charset="-122"/>
                <a:cs typeface="Calibri" pitchFamily="34" charset="-120"/>
              </a:rPr>
              <a:t>Portainer tente de tirer une image locale du Docker Hub     </a:t>
            </a:r>
            <a:pPr indent="0" marL="0">
              <a:buNone/>
            </a:pPr>
            <a:r>
              <a:rPr lang="en-US" sz="1250" b="1" dirty="0">
                <a:solidFill>
                  <a:srgbClr val="34D399"/>
                </a:solidFill>
                <a:latin typeface="Calibri" pitchFamily="34" charset="0"/>
                <a:ea typeface="Calibri" pitchFamily="34" charset="-122"/>
                <a:cs typeface="Calibri" pitchFamily="34" charset="-120"/>
              </a:rPr>
              <a:t>Solution  </a:t>
            </a:r>
            <a:pPr indent="0" marL="0">
              <a:buNone/>
            </a:pPr>
            <a:r>
              <a:rPr lang="en-US" sz="1250" dirty="0">
                <a:solidFill>
                  <a:srgbClr val="E6EDF7"/>
                </a:solidFill>
                <a:latin typeface="Calibri" pitchFamily="34" charset="0"/>
                <a:ea typeface="Calibri" pitchFamily="34" charset="-122"/>
                <a:cs typeface="Calibri" pitchFamily="34" charset="-120"/>
              </a:rPr>
              <a:t>Décocher « Always pull the image »</a:t>
            </a:r>
            <a:endParaRPr lang="en-US" sz="1250" dirty="0"/>
          </a:p>
        </p:txBody>
      </p:sp>
      <p:sp>
        <p:nvSpPr>
          <p:cNvPr id="34" name="Text 31"/>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5" name="Text 32"/>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 / 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11 — Refaire les jobs 7, 8 et 9 (suite)</a:t>
            </a:r>
            <a:endParaRPr lang="en-US" sz="2600" dirty="0"/>
          </a:p>
        </p:txBody>
      </p:sp>
      <p:pic>
        <p:nvPicPr>
          <p:cNvPr id="22" name="Image 0" descr="/tmp/job11/allimg/job11-job08-conteneurs.png">    </p:cNvPr>
          <p:cNvPicPr>
            <a:picLocks noChangeAspect="1"/>
          </p:cNvPicPr>
          <p:nvPr/>
        </p:nvPicPr>
        <p:blipFill>
          <a:blip r:embed="rId1"/>
          <a:stretch>
            <a:fillRect/>
          </a:stretch>
        </p:blipFill>
        <p:spPr>
          <a:xfrm>
            <a:off x="3974749" y="1188720"/>
            <a:ext cx="4212022" cy="2377440"/>
          </a:xfrm>
          <a:prstGeom prst="rect">
            <a:avLst/>
          </a:prstGeom>
        </p:spPr>
      </p:pic>
      <p:sp>
        <p:nvSpPr>
          <p:cNvPr id="23" name="Shape 20"/>
          <p:cNvSpPr/>
          <p:nvPr/>
        </p:nvSpPr>
        <p:spPr>
          <a:xfrm>
            <a:off x="3929029" y="1143000"/>
            <a:ext cx="164592" cy="0"/>
          </a:xfrm>
          <a:prstGeom prst="line">
            <a:avLst/>
          </a:prstGeom>
          <a:noFill/>
          <a:ln w="27940">
            <a:solidFill>
              <a:srgbClr val="F43F8E"/>
            </a:solidFill>
            <a:prstDash val="solid"/>
          </a:ln>
        </p:spPr>
      </p:sp>
      <p:sp>
        <p:nvSpPr>
          <p:cNvPr id="24" name="Shape 21"/>
          <p:cNvSpPr/>
          <p:nvPr/>
        </p:nvSpPr>
        <p:spPr>
          <a:xfrm>
            <a:off x="3929029" y="1143000"/>
            <a:ext cx="0" cy="164592"/>
          </a:xfrm>
          <a:prstGeom prst="line">
            <a:avLst/>
          </a:prstGeom>
          <a:noFill/>
          <a:ln w="27940">
            <a:solidFill>
              <a:srgbClr val="F43F8E"/>
            </a:solidFill>
            <a:prstDash val="solid"/>
          </a:ln>
        </p:spPr>
      </p:sp>
      <p:sp>
        <p:nvSpPr>
          <p:cNvPr id="25" name="Shape 22"/>
          <p:cNvSpPr/>
          <p:nvPr/>
        </p:nvSpPr>
        <p:spPr>
          <a:xfrm>
            <a:off x="8067899" y="3611880"/>
            <a:ext cx="164592" cy="0"/>
          </a:xfrm>
          <a:prstGeom prst="line">
            <a:avLst/>
          </a:prstGeom>
          <a:noFill/>
          <a:ln w="27940">
            <a:solidFill>
              <a:srgbClr val="22D3EE"/>
            </a:solidFill>
            <a:prstDash val="solid"/>
          </a:ln>
        </p:spPr>
      </p:sp>
      <p:sp>
        <p:nvSpPr>
          <p:cNvPr id="26" name="Shape 23"/>
          <p:cNvSpPr/>
          <p:nvPr/>
        </p:nvSpPr>
        <p:spPr>
          <a:xfrm>
            <a:off x="8232491" y="3447288"/>
            <a:ext cx="0" cy="164592"/>
          </a:xfrm>
          <a:prstGeom prst="line">
            <a:avLst/>
          </a:prstGeom>
          <a:noFill/>
          <a:ln w="27940">
            <a:solidFill>
              <a:srgbClr val="22D3EE"/>
            </a:solidFill>
            <a:prstDash val="solid"/>
          </a:ln>
        </p:spPr>
      </p:sp>
      <p:pic>
        <p:nvPicPr>
          <p:cNvPr id="27" name="Image 1" descr="/tmp/job11/allimg/job11-job09-registry-local.png">    </p:cNvPr>
          <p:cNvPicPr>
            <a:picLocks noChangeAspect="1"/>
          </p:cNvPicPr>
          <p:nvPr/>
        </p:nvPicPr>
        <p:blipFill>
          <a:blip r:embed="rId2"/>
          <a:stretch>
            <a:fillRect/>
          </a:stretch>
        </p:blipFill>
        <p:spPr>
          <a:xfrm>
            <a:off x="3084608" y="3840480"/>
            <a:ext cx="5992303" cy="2377440"/>
          </a:xfrm>
          <a:prstGeom prst="rect">
            <a:avLst/>
          </a:prstGeom>
        </p:spPr>
      </p:pic>
      <p:sp>
        <p:nvSpPr>
          <p:cNvPr id="28" name="Shape 24"/>
          <p:cNvSpPr/>
          <p:nvPr/>
        </p:nvSpPr>
        <p:spPr>
          <a:xfrm>
            <a:off x="3038888" y="3794760"/>
            <a:ext cx="164592" cy="0"/>
          </a:xfrm>
          <a:prstGeom prst="line">
            <a:avLst/>
          </a:prstGeom>
          <a:noFill/>
          <a:ln w="27940">
            <a:solidFill>
              <a:srgbClr val="F43F8E"/>
            </a:solidFill>
            <a:prstDash val="solid"/>
          </a:ln>
        </p:spPr>
      </p:sp>
      <p:sp>
        <p:nvSpPr>
          <p:cNvPr id="29" name="Shape 25"/>
          <p:cNvSpPr/>
          <p:nvPr/>
        </p:nvSpPr>
        <p:spPr>
          <a:xfrm>
            <a:off x="3038888" y="3794760"/>
            <a:ext cx="0" cy="164592"/>
          </a:xfrm>
          <a:prstGeom prst="line">
            <a:avLst/>
          </a:prstGeom>
          <a:noFill/>
          <a:ln w="27940">
            <a:solidFill>
              <a:srgbClr val="F43F8E"/>
            </a:solidFill>
            <a:prstDash val="solid"/>
          </a:ln>
        </p:spPr>
      </p:sp>
      <p:sp>
        <p:nvSpPr>
          <p:cNvPr id="30" name="Shape 26"/>
          <p:cNvSpPr/>
          <p:nvPr/>
        </p:nvSpPr>
        <p:spPr>
          <a:xfrm>
            <a:off x="8958040" y="6263640"/>
            <a:ext cx="164592" cy="0"/>
          </a:xfrm>
          <a:prstGeom prst="line">
            <a:avLst/>
          </a:prstGeom>
          <a:noFill/>
          <a:ln w="27940">
            <a:solidFill>
              <a:srgbClr val="22D3EE"/>
            </a:solidFill>
            <a:prstDash val="solid"/>
          </a:ln>
        </p:spPr>
      </p:sp>
      <p:sp>
        <p:nvSpPr>
          <p:cNvPr id="31" name="Shape 27"/>
          <p:cNvSpPr/>
          <p:nvPr/>
        </p:nvSpPr>
        <p:spPr>
          <a:xfrm>
            <a:off x="9122632" y="6099048"/>
            <a:ext cx="0" cy="164592"/>
          </a:xfrm>
          <a:prstGeom prst="line">
            <a:avLst/>
          </a:prstGeom>
          <a:noFill/>
          <a:ln w="27940">
            <a:solidFill>
              <a:srgbClr val="22D3EE"/>
            </a:solidFill>
            <a:prstDash val="solid"/>
          </a:ln>
        </p:spPr>
      </p:sp>
      <p:sp>
        <p:nvSpPr>
          <p:cNvPr id="32" name="Text 28"/>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3" name="Text 29"/>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 / 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Job 11 — Alternatives à Portainer</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38560" cy="914400"/>
        </p:xfrm>
        <a:graphic>
          <a:graphicData uri="http://schemas.openxmlformats.org/drawingml/2006/table">
            <a:tbl>
              <a:tblPr/>
              <a:tblGrid>
                <a:gridCol w="1737360"/>
                <a:gridCol w="1920240"/>
                <a:gridCol w="4572000"/>
                <a:gridCol w="3108960"/>
              </a:tblGrid>
              <a:tr h="640080">
                <a:tc>
                  <a:txBody>
                    <a:bodyPr/>
                    <a:lstStyle/>
                    <a:p>
                      <a:pPr indent="0" marL="0">
                        <a:buNone/>
                      </a:pPr>
                      <a:r>
                        <a:rPr lang="en-US" sz="1300" b="1" dirty="0">
                          <a:solidFill>
                            <a:srgbClr val="22D3EE"/>
                          </a:solidFill>
                          <a:latin typeface="Calibri" pitchFamily="34" charset="0"/>
                          <a:ea typeface="Calibri" pitchFamily="34" charset="-122"/>
                          <a:cs typeface="Calibri" pitchFamily="34" charset="-120"/>
                        </a:rPr>
                        <a:t>Outil</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0E1B33"/>
                    </a:solidFill>
                  </a:tcPr>
                </a:tc>
                <a:tc>
                  <a:txBody>
                    <a:bodyPr/>
                    <a:lstStyle/>
                    <a:p>
                      <a:pPr indent="0" marL="0">
                        <a:buNone/>
                      </a:pPr>
                      <a:r>
                        <a:rPr lang="en-US" sz="1300" b="1" dirty="0">
                          <a:solidFill>
                            <a:srgbClr val="22D3EE"/>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0E1B33"/>
                    </a:solidFill>
                  </a:tcPr>
                </a:tc>
                <a:tc>
                  <a:txBody>
                    <a:bodyPr/>
                    <a:lstStyle/>
                    <a:p>
                      <a:pPr indent="0" marL="0">
                        <a:buNone/>
                      </a:pPr>
                      <a:r>
                        <a:rPr lang="en-US" sz="1300" b="1" dirty="0">
                          <a:solidFill>
                            <a:srgbClr val="22D3EE"/>
                          </a:solidFill>
                          <a:latin typeface="Calibri" pitchFamily="34" charset="0"/>
                          <a:ea typeface="Calibri" pitchFamily="34" charset="-122"/>
                          <a:cs typeface="Calibri" pitchFamily="34" charset="-120"/>
                        </a:rPr>
                        <a:t>Points clés</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0E1B33"/>
                    </a:solidFill>
                  </a:tcPr>
                </a:tc>
                <a:tc>
                  <a:txBody>
                    <a:bodyPr/>
                    <a:lstStyle/>
                    <a:p>
                      <a:pPr indent="0" marL="0">
                        <a:buNone/>
                      </a:pPr>
                      <a:r>
                        <a:rPr lang="en-US" sz="1300" b="1" dirty="0">
                          <a:solidFill>
                            <a:srgbClr val="22D3EE"/>
                          </a:solidFill>
                          <a:latin typeface="Calibri" pitchFamily="34" charset="0"/>
                          <a:ea typeface="Calibri" pitchFamily="34" charset="-122"/>
                          <a:cs typeface="Calibri" pitchFamily="34" charset="-120"/>
                        </a:rPr>
                        <a:t>Limites</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0E1B33"/>
                    </a:solidFill>
                  </a:tcPr>
                </a:tc>
              </a:tr>
              <a:tr h="640080">
                <a:tc>
                  <a:txBody>
                    <a:bodyPr/>
                    <a:lstStyle/>
                    <a:p>
                      <a:pPr indent="0" marL="0">
                        <a:buNone/>
                      </a:pPr>
                      <a:r>
                        <a:rPr lang="en-US" sz="1300" b="1" dirty="0">
                          <a:solidFill>
                            <a:srgbClr val="34D399"/>
                          </a:solidFill>
                          <a:latin typeface="Calibri" pitchFamily="34" charset="0"/>
                          <a:ea typeface="Calibri" pitchFamily="34" charset="-122"/>
                          <a:cs typeface="Calibri" pitchFamily="34" charset="-120"/>
                        </a:rPr>
                        <a:t>Dockge</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Interface web</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Centré Compose, éditeur YAML, terminal web, ~50 Mo de RAM, MIT, maintenu</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Pas de Kubernetes ni Swarm</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r>
              <a:tr h="640080">
                <a:tc>
                  <a:txBody>
                    <a:bodyPr/>
                    <a:lstStyle/>
                    <a:p>
                      <a:pPr indent="0" marL="0">
                        <a:buNone/>
                      </a:pPr>
                      <a:r>
                        <a:rPr lang="en-US" sz="1300" b="1" dirty="0">
                          <a:solidFill>
                            <a:srgbClr val="F43F8E"/>
                          </a:solidFill>
                          <a:latin typeface="Calibri" pitchFamily="34" charset="0"/>
                          <a:ea typeface="Calibri" pitchFamily="34" charset="-122"/>
                          <a:cs typeface="Calibri" pitchFamily="34" charset="-120"/>
                        </a:rPr>
                        <a:t>Yacht</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Interface web</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Modèles d'applications, gestion basique</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Abandonné depuis janv. 2023 (v0.0.7-alpha)</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r>
              <a:tr h="6400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Lazydocker</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Terminal (TUI)</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Un binaire, conteneurs, logs et stats</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Pas d'interface graphique</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r>
              <a:tr h="6400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Cockpit</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Admin système</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Gère tout le serveur, module conteneurs</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Surtout orienté Podman</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r>
              <a:tr h="6400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Rancher</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Plateforme</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Clusters Kubernetes à grande échelle</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c>
                  <a:txBody>
                    <a:bodyPr/>
                    <a:lstStyle/>
                    <a:p>
                      <a:pPr indent="0" marL="0">
                        <a:buNone/>
                      </a:pPr>
                      <a:r>
                        <a:rPr lang="en-US" sz="1300" dirty="0">
                          <a:solidFill>
                            <a:srgbClr val="E6EDF7"/>
                          </a:solidFill>
                          <a:latin typeface="Calibri" pitchFamily="34" charset="0"/>
                          <a:ea typeface="Calibri" pitchFamily="34" charset="-122"/>
                          <a:cs typeface="Calibri" pitchFamily="34" charset="-120"/>
                        </a:rPr>
                        <a:t>Surdimensionné pour un hôte</a:t>
                      </a:r>
                      <a:endParaRPr lang="en-US" sz="1300" dirty="0">
                        <a:latin typeface="Calibri" charset="0"/>
                        <a:ea typeface="Calibri" charset="0"/>
                        <a:cs typeface="Calibri" charset="0"/>
                      </a:endParaRPr>
                    </a:p>
                  </a:txBody>
                  <a:tcPr marL="91440" marR="91440" marT="73152" marB="73152" anchor="ctr">
                    <a:lnL w="9525" cap="flat" cmpd="sng" algn="ctr">
                      <a:solidFill>
                        <a:srgbClr val="1E2B47"/>
                      </a:solidFill>
                      <a:prstDash val="solid"/>
                      <a:round/>
                      <a:headEnd type="none" w="med" len="med"/>
                      <a:tailEnd type="none" w="med" len="med"/>
                    </a:lnL>
                    <a:lnR w="9525" cap="flat" cmpd="sng" algn="ctr">
                      <a:solidFill>
                        <a:srgbClr val="1E2B47"/>
                      </a:solidFill>
                      <a:prstDash val="solid"/>
                      <a:round/>
                      <a:headEnd type="none" w="med" len="med"/>
                      <a:tailEnd type="none" w="med" len="med"/>
                    </a:lnR>
                    <a:lnT w="9525" cap="flat" cmpd="sng" algn="ctr">
                      <a:solidFill>
                        <a:srgbClr val="1E2B47"/>
                      </a:solidFill>
                      <a:prstDash val="solid"/>
                      <a:round/>
                      <a:headEnd type="none" w="med" len="med"/>
                      <a:tailEnd type="none" w="med" len="med"/>
                    </a:lnT>
                    <a:lnB w="9525" cap="flat" cmpd="sng" algn="ctr">
                      <a:solidFill>
                        <a:srgbClr val="1E2B47"/>
                      </a:solidFill>
                      <a:prstDash val="solid"/>
                      <a:round/>
                      <a:headEnd type="none" w="med" len="med"/>
                      <a:tailEnd type="none" w="med" len="med"/>
                    </a:lnB>
                    <a:solidFill>
                      <a:srgbClr val="111A2E"/>
                    </a:solidFill>
                  </a:tcPr>
                </a:tc>
              </a:tr>
            </a:tbl>
          </a:graphicData>
        </a:graphic>
      </p:graphicFrame>
      <p:sp>
        <p:nvSpPr>
          <p:cNvPr id="23" name="Shape 20"/>
          <p:cNvSpPr/>
          <p:nvPr/>
        </p:nvSpPr>
        <p:spPr>
          <a:xfrm>
            <a:off x="411480" y="5120640"/>
            <a:ext cx="11338560" cy="914400"/>
          </a:xfrm>
          <a:prstGeom prst="rect">
            <a:avLst/>
          </a:prstGeom>
          <a:solidFill>
            <a:srgbClr val="111A2E"/>
          </a:solidFill>
          <a:ln w="12700">
            <a:solidFill>
              <a:srgbClr val="22D3EE"/>
            </a:solidFill>
            <a:prstDash val="solid"/>
          </a:ln>
        </p:spPr>
      </p:sp>
      <p:sp>
        <p:nvSpPr>
          <p:cNvPr id="24" name="Text 21"/>
          <p:cNvSpPr txBox="1"/>
          <p:nvPr/>
        </p:nvSpPr>
        <p:spPr>
          <a:xfrm>
            <a:off x="640080" y="5166360"/>
            <a:ext cx="10881360" cy="822960"/>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Conclusion  </a:t>
            </a:r>
            <a:pPr indent="0" marL="0">
              <a:buNone/>
            </a:pPr>
            <a:r>
              <a:rPr lang="en-US" sz="1400" dirty="0">
                <a:solidFill>
                  <a:srgbClr val="E6EDF7"/>
                </a:solidFill>
                <a:latin typeface="Calibri" pitchFamily="34" charset="0"/>
                <a:ea typeface="Calibri" pitchFamily="34" charset="-122"/>
                <a:cs typeface="Calibri" pitchFamily="34" charset="-120"/>
              </a:rPr>
              <a:t>Pour un hôte unique sous Compose, Dockge est léger et crédible. Portainer reste plus complet (images, volumes, registries, multi-hôte). Tous montent docker.sock : même risque.</a:t>
            </a:r>
            <a:endParaRPr lang="en-US" sz="1400" dirty="0"/>
          </a:p>
        </p:txBody>
      </p:sp>
      <p:sp>
        <p:nvSpPr>
          <p:cNvPr id="25" name="Text 22"/>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26" name="Text 23"/>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 / 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Bonus — Stack LAMP complète</a:t>
            </a:r>
            <a:endParaRPr lang="en-US" sz="2600" dirty="0"/>
          </a:p>
        </p:txBody>
      </p:sp>
      <p:sp>
        <p:nvSpPr>
          <p:cNvPr id="22" name="Shape 20"/>
          <p:cNvSpPr/>
          <p:nvPr/>
        </p:nvSpPr>
        <p:spPr>
          <a:xfrm>
            <a:off x="411480" y="1188720"/>
            <a:ext cx="4389120" cy="2029968"/>
          </a:xfrm>
          <a:prstGeom prst="rect">
            <a:avLst/>
          </a:prstGeom>
          <a:solidFill>
            <a:srgbClr val="111A2E"/>
          </a:solidFill>
          <a:ln w="12700">
            <a:solidFill>
              <a:srgbClr val="1E2B47"/>
            </a:solidFill>
            <a:prstDash val="solid"/>
          </a:ln>
        </p:spPr>
      </p:sp>
      <p:sp>
        <p:nvSpPr>
          <p:cNvPr id="23" name="Text 21"/>
          <p:cNvSpPr txBox="1"/>
          <p:nvPr/>
        </p:nvSpPr>
        <p:spPr>
          <a:xfrm>
            <a:off x="640080" y="1188720"/>
            <a:ext cx="4023360" cy="2029968"/>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web : php:8.3-apache + mysqli</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db : mariadb:lts · phpMyAdmin : port 8080</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ftp pour déposer index.php dans le volume web</a:t>
            </a:r>
            <a:endParaRPr lang="en-US" sz="1400" dirty="0"/>
          </a:p>
          <a:p>
            <a:pPr marL="342900" indent="-342900">
              <a:spcAft>
                <a:spcPts val="700"/>
              </a:spcAft>
              <a:buSzPct val="100000"/>
              <a:buChar char="▸"/>
            </a:pPr>
            <a:r>
              <a:rPr lang="en-US" sz="1400" dirty="0">
                <a:solidFill>
                  <a:srgbClr val="E6EDF7"/>
                </a:solidFill>
                <a:latin typeface="Calibri" pitchFamily="34" charset="0"/>
                <a:ea typeface="Calibri" pitchFamily="34" charset="-122"/>
                <a:cs typeface="Calibri" pitchFamily="34" charset="-120"/>
              </a:rPr>
              <a:t>La page PHP se connecte à MariaDB</a:t>
            </a:r>
            <a:endParaRPr lang="en-US" sz="1400" dirty="0"/>
          </a:p>
        </p:txBody>
      </p:sp>
      <p:sp>
        <p:nvSpPr>
          <p:cNvPr id="24" name="Shape 22"/>
          <p:cNvSpPr/>
          <p:nvPr/>
        </p:nvSpPr>
        <p:spPr>
          <a:xfrm>
            <a:off x="411480" y="3401568"/>
            <a:ext cx="4389120" cy="731520"/>
          </a:xfrm>
          <a:prstGeom prst="rect">
            <a:avLst/>
          </a:prstGeom>
          <a:solidFill>
            <a:srgbClr val="0D1426"/>
          </a:solidFill>
          <a:ln w="12700">
            <a:solidFill>
              <a:srgbClr val="1E2B47"/>
            </a:solidFill>
            <a:prstDash val="solid"/>
          </a:ln>
        </p:spPr>
      </p:sp>
      <p:sp>
        <p:nvSpPr>
          <p:cNvPr id="25" name="Text 23"/>
          <p:cNvSpPr txBox="1"/>
          <p:nvPr/>
        </p:nvSpPr>
        <p:spPr>
          <a:xfrm>
            <a:off x="594360" y="3401568"/>
            <a:ext cx="4114800" cy="731520"/>
          </a:xfrm>
          <a:prstGeom prst="rect">
            <a:avLst/>
          </a:prstGeom>
          <a:noFill/>
          <a:ln/>
        </p:spPr>
        <p:txBody>
          <a:bodyPr wrap="square" lIns="0" tIns="0" rIns="0" bIns="0" rtlCol="0" anchor="ctr"/>
          <a:lstStyle/>
          <a:p>
            <a:pPr indent="0" marL="0">
              <a:buNone/>
            </a:pPr>
            <a:r>
              <a:rPr lang="en-US" sz="1000" dirty="0">
                <a:solidFill>
                  <a:srgbClr val="34D399"/>
                </a:solidFill>
                <a:latin typeface="Courier New" pitchFamily="34" charset="0"/>
                <a:ea typeface="Courier New" pitchFamily="34" charset="-122"/>
                <a:cs typeface="Courier New" pitchFamily="34" charset="-120"/>
              </a:rPr>
              <a:t>$ docker compose up -d --build</a:t>
            </a:r>
            <a:endParaRPr lang="en-US" sz="1000" dirty="0"/>
          </a:p>
          <a:p>
            <a:pPr indent="0" marL="0">
              <a:buNone/>
            </a:pPr>
            <a:r>
              <a:rPr lang="en-US" sz="1000" dirty="0">
                <a:solidFill>
                  <a:srgbClr val="34D399"/>
                </a:solidFill>
                <a:latin typeface="Courier New" pitchFamily="34" charset="0"/>
                <a:ea typeface="Courier New" pitchFamily="34" charset="-122"/>
                <a:cs typeface="Courier New" pitchFamily="34" charset="-120"/>
              </a:rPr>
              <a:t>$ curl -T index.php ftp://alexis:***@localhost/</a:t>
            </a:r>
            <a:endParaRPr lang="en-US" sz="1000" dirty="0"/>
          </a:p>
        </p:txBody>
      </p:sp>
      <p:pic>
        <p:nvPicPr>
          <p:cNvPr id="26" name="Image 0" descr="/tmp/job11/allimg/bonus-page-php.png">    </p:cNvPr>
          <p:cNvPicPr>
            <a:picLocks noChangeAspect="1"/>
          </p:cNvPicPr>
          <p:nvPr/>
        </p:nvPicPr>
        <p:blipFill>
          <a:blip r:embed="rId1"/>
          <a:stretch>
            <a:fillRect/>
          </a:stretch>
        </p:blipFill>
        <p:spPr>
          <a:xfrm>
            <a:off x="5074920" y="2836793"/>
            <a:ext cx="6675120" cy="1778775"/>
          </a:xfrm>
          <a:prstGeom prst="rect">
            <a:avLst/>
          </a:prstGeom>
        </p:spPr>
      </p:pic>
      <p:sp>
        <p:nvSpPr>
          <p:cNvPr id="27" name="Shape 24"/>
          <p:cNvSpPr/>
          <p:nvPr/>
        </p:nvSpPr>
        <p:spPr>
          <a:xfrm>
            <a:off x="5029200" y="2791073"/>
            <a:ext cx="164592" cy="0"/>
          </a:xfrm>
          <a:prstGeom prst="line">
            <a:avLst/>
          </a:prstGeom>
          <a:noFill/>
          <a:ln w="27940">
            <a:solidFill>
              <a:srgbClr val="F43F8E"/>
            </a:solidFill>
            <a:prstDash val="solid"/>
          </a:ln>
        </p:spPr>
      </p:sp>
      <p:sp>
        <p:nvSpPr>
          <p:cNvPr id="28" name="Shape 25"/>
          <p:cNvSpPr/>
          <p:nvPr/>
        </p:nvSpPr>
        <p:spPr>
          <a:xfrm>
            <a:off x="5029200" y="2791073"/>
            <a:ext cx="0" cy="164592"/>
          </a:xfrm>
          <a:prstGeom prst="line">
            <a:avLst/>
          </a:prstGeom>
          <a:noFill/>
          <a:ln w="27940">
            <a:solidFill>
              <a:srgbClr val="F43F8E"/>
            </a:solidFill>
            <a:prstDash val="solid"/>
          </a:ln>
        </p:spPr>
      </p:sp>
      <p:sp>
        <p:nvSpPr>
          <p:cNvPr id="29" name="Shape 26"/>
          <p:cNvSpPr/>
          <p:nvPr/>
        </p:nvSpPr>
        <p:spPr>
          <a:xfrm>
            <a:off x="11631168" y="4661287"/>
            <a:ext cx="164592" cy="0"/>
          </a:xfrm>
          <a:prstGeom prst="line">
            <a:avLst/>
          </a:prstGeom>
          <a:noFill/>
          <a:ln w="27940">
            <a:solidFill>
              <a:srgbClr val="22D3EE"/>
            </a:solidFill>
            <a:prstDash val="solid"/>
          </a:ln>
        </p:spPr>
      </p:sp>
      <p:sp>
        <p:nvSpPr>
          <p:cNvPr id="30" name="Shape 27"/>
          <p:cNvSpPr/>
          <p:nvPr/>
        </p:nvSpPr>
        <p:spPr>
          <a:xfrm>
            <a:off x="11795760" y="4496695"/>
            <a:ext cx="0" cy="164592"/>
          </a:xfrm>
          <a:prstGeom prst="line">
            <a:avLst/>
          </a:prstGeom>
          <a:noFill/>
          <a:ln w="27940">
            <a:solidFill>
              <a:srgbClr val="22D3EE"/>
            </a:solidFill>
            <a:prstDash val="solid"/>
          </a:ln>
        </p:spPr>
      </p:sp>
      <p:sp>
        <p:nvSpPr>
          <p:cNvPr id="31" name="Text 28"/>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2" name="Text 29"/>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 / 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Shape 18"/>
          <p:cNvSpPr/>
          <p:nvPr/>
        </p:nvSpPr>
        <p:spPr>
          <a:xfrm>
            <a:off x="411480" y="475488"/>
            <a:ext cx="146304" cy="146304"/>
          </a:xfrm>
          <a:prstGeom prst="ellipse">
            <a:avLst/>
          </a:prstGeom>
          <a:solidFill>
            <a:srgbClr val="22D3EE"/>
          </a:solidFill>
          <a:ln w="12700">
            <a:solidFill>
              <a:srgbClr val="22D3EE"/>
            </a:solidFill>
            <a:prstDash val="solid"/>
          </a:ln>
        </p:spPr>
      </p:sp>
      <p:sp>
        <p:nvSpPr>
          <p:cNvPr id="21" name="Text 19"/>
          <p:cNvSpPr txBox="1"/>
          <p:nvPr/>
        </p:nvSpPr>
        <p:spPr>
          <a:xfrm>
            <a:off x="685800" y="274320"/>
            <a:ext cx="9692640" cy="54864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Bonus — Stack LAMP complète (suite)</a:t>
            </a:r>
            <a:endParaRPr lang="en-US" sz="2600" dirty="0"/>
          </a:p>
        </p:txBody>
      </p:sp>
      <p:pic>
        <p:nvPicPr>
          <p:cNvPr id="22" name="Image 0" descr="/tmp/job11/allimg/bonus-phpmyadmin.png">    </p:cNvPr>
          <p:cNvPicPr>
            <a:picLocks noChangeAspect="1"/>
          </p:cNvPicPr>
          <p:nvPr/>
        </p:nvPicPr>
        <p:blipFill>
          <a:blip r:embed="rId1"/>
          <a:stretch>
            <a:fillRect/>
          </a:stretch>
        </p:blipFill>
        <p:spPr>
          <a:xfrm>
            <a:off x="3994596" y="1188720"/>
            <a:ext cx="4172328" cy="2377440"/>
          </a:xfrm>
          <a:prstGeom prst="rect">
            <a:avLst/>
          </a:prstGeom>
        </p:spPr>
      </p:pic>
      <p:sp>
        <p:nvSpPr>
          <p:cNvPr id="23" name="Shape 20"/>
          <p:cNvSpPr/>
          <p:nvPr/>
        </p:nvSpPr>
        <p:spPr>
          <a:xfrm>
            <a:off x="3948876" y="1143000"/>
            <a:ext cx="164592" cy="0"/>
          </a:xfrm>
          <a:prstGeom prst="line">
            <a:avLst/>
          </a:prstGeom>
          <a:noFill/>
          <a:ln w="27940">
            <a:solidFill>
              <a:srgbClr val="F43F8E"/>
            </a:solidFill>
            <a:prstDash val="solid"/>
          </a:ln>
        </p:spPr>
      </p:sp>
      <p:sp>
        <p:nvSpPr>
          <p:cNvPr id="24" name="Shape 21"/>
          <p:cNvSpPr/>
          <p:nvPr/>
        </p:nvSpPr>
        <p:spPr>
          <a:xfrm>
            <a:off x="3948876" y="1143000"/>
            <a:ext cx="0" cy="164592"/>
          </a:xfrm>
          <a:prstGeom prst="line">
            <a:avLst/>
          </a:prstGeom>
          <a:noFill/>
          <a:ln w="27940">
            <a:solidFill>
              <a:srgbClr val="F43F8E"/>
            </a:solidFill>
            <a:prstDash val="solid"/>
          </a:ln>
        </p:spPr>
      </p:sp>
      <p:sp>
        <p:nvSpPr>
          <p:cNvPr id="25" name="Shape 22"/>
          <p:cNvSpPr/>
          <p:nvPr/>
        </p:nvSpPr>
        <p:spPr>
          <a:xfrm>
            <a:off x="8048052" y="3611880"/>
            <a:ext cx="164592" cy="0"/>
          </a:xfrm>
          <a:prstGeom prst="line">
            <a:avLst/>
          </a:prstGeom>
          <a:noFill/>
          <a:ln w="27940">
            <a:solidFill>
              <a:srgbClr val="22D3EE"/>
            </a:solidFill>
            <a:prstDash val="solid"/>
          </a:ln>
        </p:spPr>
      </p:sp>
      <p:sp>
        <p:nvSpPr>
          <p:cNvPr id="26" name="Shape 23"/>
          <p:cNvSpPr/>
          <p:nvPr/>
        </p:nvSpPr>
        <p:spPr>
          <a:xfrm>
            <a:off x="8212644" y="3447288"/>
            <a:ext cx="0" cy="164592"/>
          </a:xfrm>
          <a:prstGeom prst="line">
            <a:avLst/>
          </a:prstGeom>
          <a:noFill/>
          <a:ln w="27940">
            <a:solidFill>
              <a:srgbClr val="22D3EE"/>
            </a:solidFill>
            <a:prstDash val="solid"/>
          </a:ln>
        </p:spPr>
      </p:sp>
      <p:pic>
        <p:nvPicPr>
          <p:cNvPr id="27" name="Image 1" descr="/tmp/job11/allimg/bonus-compose-ps.png">    </p:cNvPr>
          <p:cNvPicPr>
            <a:picLocks noChangeAspect="1"/>
          </p:cNvPicPr>
          <p:nvPr/>
        </p:nvPicPr>
        <p:blipFill>
          <a:blip r:embed="rId2"/>
          <a:stretch>
            <a:fillRect/>
          </a:stretch>
        </p:blipFill>
        <p:spPr>
          <a:xfrm>
            <a:off x="411480" y="4048376"/>
            <a:ext cx="11338560" cy="1961648"/>
          </a:xfrm>
          <a:prstGeom prst="rect">
            <a:avLst/>
          </a:prstGeom>
        </p:spPr>
      </p:pic>
      <p:sp>
        <p:nvSpPr>
          <p:cNvPr id="28" name="Shape 24"/>
          <p:cNvSpPr/>
          <p:nvPr/>
        </p:nvSpPr>
        <p:spPr>
          <a:xfrm>
            <a:off x="365760" y="4002656"/>
            <a:ext cx="164592" cy="0"/>
          </a:xfrm>
          <a:prstGeom prst="line">
            <a:avLst/>
          </a:prstGeom>
          <a:noFill/>
          <a:ln w="27940">
            <a:solidFill>
              <a:srgbClr val="F43F8E"/>
            </a:solidFill>
            <a:prstDash val="solid"/>
          </a:ln>
        </p:spPr>
      </p:sp>
      <p:sp>
        <p:nvSpPr>
          <p:cNvPr id="29" name="Shape 25"/>
          <p:cNvSpPr/>
          <p:nvPr/>
        </p:nvSpPr>
        <p:spPr>
          <a:xfrm>
            <a:off x="365760" y="4002656"/>
            <a:ext cx="0" cy="164592"/>
          </a:xfrm>
          <a:prstGeom prst="line">
            <a:avLst/>
          </a:prstGeom>
          <a:noFill/>
          <a:ln w="27940">
            <a:solidFill>
              <a:srgbClr val="F43F8E"/>
            </a:solidFill>
            <a:prstDash val="solid"/>
          </a:ln>
        </p:spPr>
      </p:sp>
      <p:sp>
        <p:nvSpPr>
          <p:cNvPr id="30" name="Shape 26"/>
          <p:cNvSpPr/>
          <p:nvPr/>
        </p:nvSpPr>
        <p:spPr>
          <a:xfrm>
            <a:off x="11631168" y="6055744"/>
            <a:ext cx="164592" cy="0"/>
          </a:xfrm>
          <a:prstGeom prst="line">
            <a:avLst/>
          </a:prstGeom>
          <a:noFill/>
          <a:ln w="27940">
            <a:solidFill>
              <a:srgbClr val="22D3EE"/>
            </a:solidFill>
            <a:prstDash val="solid"/>
          </a:ln>
        </p:spPr>
      </p:sp>
      <p:sp>
        <p:nvSpPr>
          <p:cNvPr id="31" name="Shape 27"/>
          <p:cNvSpPr/>
          <p:nvPr/>
        </p:nvSpPr>
        <p:spPr>
          <a:xfrm>
            <a:off x="11795760" y="5891152"/>
            <a:ext cx="0" cy="164592"/>
          </a:xfrm>
          <a:prstGeom prst="line">
            <a:avLst/>
          </a:prstGeom>
          <a:noFill/>
          <a:ln w="27940">
            <a:solidFill>
              <a:srgbClr val="22D3EE"/>
            </a:solidFill>
            <a:prstDash val="solid"/>
          </a:ln>
        </p:spPr>
      </p:sp>
      <p:sp>
        <p:nvSpPr>
          <p:cNvPr id="32" name="Text 28"/>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33" name="Text 29"/>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 / 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0561320" y="274320"/>
            <a:ext cx="41148" cy="41148"/>
          </a:xfrm>
          <a:prstGeom prst="ellipse">
            <a:avLst/>
          </a:prstGeom>
          <a:solidFill>
            <a:srgbClr val="22D3EE">
              <a:alpha val="60000"/>
            </a:srgbClr>
          </a:solidFill>
          <a:ln w="12700">
            <a:solidFill>
              <a:srgbClr val="22D3EE">
                <a:alpha val="0"/>
              </a:srgbClr>
            </a:solidFill>
            <a:prstDash val="solid"/>
          </a:ln>
        </p:spPr>
      </p:sp>
      <p:sp>
        <p:nvSpPr>
          <p:cNvPr id="3" name="Shape 1"/>
          <p:cNvSpPr/>
          <p:nvPr/>
        </p:nvSpPr>
        <p:spPr>
          <a:xfrm>
            <a:off x="10725912" y="274320"/>
            <a:ext cx="41148" cy="41148"/>
          </a:xfrm>
          <a:prstGeom prst="ellipse">
            <a:avLst/>
          </a:prstGeom>
          <a:solidFill>
            <a:srgbClr val="22D3EE">
              <a:alpha val="60000"/>
            </a:srgbClr>
          </a:solidFill>
          <a:ln w="12700">
            <a:solidFill>
              <a:srgbClr val="22D3EE">
                <a:alpha val="0"/>
              </a:srgbClr>
            </a:solidFill>
            <a:prstDash val="solid"/>
          </a:ln>
        </p:spPr>
      </p:sp>
      <p:sp>
        <p:nvSpPr>
          <p:cNvPr id="4" name="Shape 2"/>
          <p:cNvSpPr/>
          <p:nvPr/>
        </p:nvSpPr>
        <p:spPr>
          <a:xfrm>
            <a:off x="10890504" y="274320"/>
            <a:ext cx="41148" cy="41148"/>
          </a:xfrm>
          <a:prstGeom prst="ellipse">
            <a:avLst/>
          </a:prstGeom>
          <a:solidFill>
            <a:srgbClr val="22D3EE">
              <a:alpha val="60000"/>
            </a:srgbClr>
          </a:solidFill>
          <a:ln w="12700">
            <a:solidFill>
              <a:srgbClr val="22D3EE">
                <a:alpha val="0"/>
              </a:srgbClr>
            </a:solidFill>
            <a:prstDash val="solid"/>
          </a:ln>
        </p:spPr>
      </p:sp>
      <p:sp>
        <p:nvSpPr>
          <p:cNvPr id="5" name="Shape 3"/>
          <p:cNvSpPr/>
          <p:nvPr/>
        </p:nvSpPr>
        <p:spPr>
          <a:xfrm>
            <a:off x="11055096" y="274320"/>
            <a:ext cx="41148" cy="41148"/>
          </a:xfrm>
          <a:prstGeom prst="ellipse">
            <a:avLst/>
          </a:prstGeom>
          <a:solidFill>
            <a:srgbClr val="22D3EE">
              <a:alpha val="60000"/>
            </a:srgbClr>
          </a:solidFill>
          <a:ln w="12700">
            <a:solidFill>
              <a:srgbClr val="22D3EE">
                <a:alpha val="0"/>
              </a:srgbClr>
            </a:solidFill>
            <a:prstDash val="solid"/>
          </a:ln>
        </p:spPr>
      </p:sp>
      <p:sp>
        <p:nvSpPr>
          <p:cNvPr id="6" name="Shape 4"/>
          <p:cNvSpPr/>
          <p:nvPr/>
        </p:nvSpPr>
        <p:spPr>
          <a:xfrm>
            <a:off x="11219688" y="274320"/>
            <a:ext cx="41148" cy="41148"/>
          </a:xfrm>
          <a:prstGeom prst="ellipse">
            <a:avLst/>
          </a:prstGeom>
          <a:solidFill>
            <a:srgbClr val="22D3EE">
              <a:alpha val="60000"/>
            </a:srgbClr>
          </a:solidFill>
          <a:ln w="12700">
            <a:solidFill>
              <a:srgbClr val="22D3EE">
                <a:alpha val="0"/>
              </a:srgbClr>
            </a:solidFill>
            <a:prstDash val="solid"/>
          </a:ln>
        </p:spPr>
      </p:sp>
      <p:sp>
        <p:nvSpPr>
          <p:cNvPr id="7" name="Shape 5"/>
          <p:cNvSpPr/>
          <p:nvPr/>
        </p:nvSpPr>
        <p:spPr>
          <a:xfrm>
            <a:off x="11384280" y="274320"/>
            <a:ext cx="41148" cy="41148"/>
          </a:xfrm>
          <a:prstGeom prst="ellipse">
            <a:avLst/>
          </a:prstGeom>
          <a:solidFill>
            <a:srgbClr val="22D3EE">
              <a:alpha val="60000"/>
            </a:srgbClr>
          </a:solidFill>
          <a:ln w="12700">
            <a:solidFill>
              <a:srgbClr val="22D3EE">
                <a:alpha val="0"/>
              </a:srgbClr>
            </a:solidFill>
            <a:prstDash val="solid"/>
          </a:ln>
        </p:spPr>
      </p:sp>
      <p:sp>
        <p:nvSpPr>
          <p:cNvPr id="8" name="Shape 6"/>
          <p:cNvSpPr/>
          <p:nvPr/>
        </p:nvSpPr>
        <p:spPr>
          <a:xfrm>
            <a:off x="10561320" y="438912"/>
            <a:ext cx="41148" cy="41148"/>
          </a:xfrm>
          <a:prstGeom prst="ellipse">
            <a:avLst/>
          </a:prstGeom>
          <a:solidFill>
            <a:srgbClr val="22D3EE">
              <a:alpha val="60000"/>
            </a:srgbClr>
          </a:solidFill>
          <a:ln w="12700">
            <a:solidFill>
              <a:srgbClr val="22D3EE">
                <a:alpha val="0"/>
              </a:srgbClr>
            </a:solidFill>
            <a:prstDash val="solid"/>
          </a:ln>
        </p:spPr>
      </p:sp>
      <p:sp>
        <p:nvSpPr>
          <p:cNvPr id="9" name="Shape 7"/>
          <p:cNvSpPr/>
          <p:nvPr/>
        </p:nvSpPr>
        <p:spPr>
          <a:xfrm>
            <a:off x="10725912" y="438912"/>
            <a:ext cx="41148" cy="41148"/>
          </a:xfrm>
          <a:prstGeom prst="ellipse">
            <a:avLst/>
          </a:prstGeom>
          <a:solidFill>
            <a:srgbClr val="22D3EE">
              <a:alpha val="60000"/>
            </a:srgbClr>
          </a:solidFill>
          <a:ln w="12700">
            <a:solidFill>
              <a:srgbClr val="22D3EE">
                <a:alpha val="0"/>
              </a:srgbClr>
            </a:solidFill>
            <a:prstDash val="solid"/>
          </a:ln>
        </p:spPr>
      </p:sp>
      <p:sp>
        <p:nvSpPr>
          <p:cNvPr id="10" name="Shape 8"/>
          <p:cNvSpPr/>
          <p:nvPr/>
        </p:nvSpPr>
        <p:spPr>
          <a:xfrm>
            <a:off x="10890504" y="438912"/>
            <a:ext cx="41148" cy="41148"/>
          </a:xfrm>
          <a:prstGeom prst="ellipse">
            <a:avLst/>
          </a:prstGeom>
          <a:solidFill>
            <a:srgbClr val="22D3EE">
              <a:alpha val="60000"/>
            </a:srgbClr>
          </a:solidFill>
          <a:ln w="12700">
            <a:solidFill>
              <a:srgbClr val="22D3EE">
                <a:alpha val="0"/>
              </a:srgbClr>
            </a:solidFill>
            <a:prstDash val="solid"/>
          </a:ln>
        </p:spPr>
      </p:sp>
      <p:sp>
        <p:nvSpPr>
          <p:cNvPr id="11" name="Shape 9"/>
          <p:cNvSpPr/>
          <p:nvPr/>
        </p:nvSpPr>
        <p:spPr>
          <a:xfrm>
            <a:off x="11055096" y="438912"/>
            <a:ext cx="41148" cy="41148"/>
          </a:xfrm>
          <a:prstGeom prst="ellipse">
            <a:avLst/>
          </a:prstGeom>
          <a:solidFill>
            <a:srgbClr val="22D3EE">
              <a:alpha val="60000"/>
            </a:srgbClr>
          </a:solidFill>
          <a:ln w="12700">
            <a:solidFill>
              <a:srgbClr val="22D3EE">
                <a:alpha val="0"/>
              </a:srgbClr>
            </a:solidFill>
            <a:prstDash val="solid"/>
          </a:ln>
        </p:spPr>
      </p:sp>
      <p:sp>
        <p:nvSpPr>
          <p:cNvPr id="12" name="Shape 10"/>
          <p:cNvSpPr/>
          <p:nvPr/>
        </p:nvSpPr>
        <p:spPr>
          <a:xfrm>
            <a:off x="11219688" y="438912"/>
            <a:ext cx="41148" cy="41148"/>
          </a:xfrm>
          <a:prstGeom prst="ellipse">
            <a:avLst/>
          </a:prstGeom>
          <a:solidFill>
            <a:srgbClr val="22D3EE">
              <a:alpha val="60000"/>
            </a:srgbClr>
          </a:solidFill>
          <a:ln w="12700">
            <a:solidFill>
              <a:srgbClr val="22D3EE">
                <a:alpha val="0"/>
              </a:srgbClr>
            </a:solidFill>
            <a:prstDash val="solid"/>
          </a:ln>
        </p:spPr>
      </p:sp>
      <p:sp>
        <p:nvSpPr>
          <p:cNvPr id="13" name="Shape 11"/>
          <p:cNvSpPr/>
          <p:nvPr/>
        </p:nvSpPr>
        <p:spPr>
          <a:xfrm>
            <a:off x="11384280" y="438912"/>
            <a:ext cx="41148" cy="41148"/>
          </a:xfrm>
          <a:prstGeom prst="ellipse">
            <a:avLst/>
          </a:prstGeom>
          <a:solidFill>
            <a:srgbClr val="22D3EE">
              <a:alpha val="60000"/>
            </a:srgbClr>
          </a:solidFill>
          <a:ln w="12700">
            <a:solidFill>
              <a:srgbClr val="22D3EE">
                <a:alpha val="0"/>
              </a:srgbClr>
            </a:solidFill>
            <a:prstDash val="solid"/>
          </a:ln>
        </p:spPr>
      </p:sp>
      <p:sp>
        <p:nvSpPr>
          <p:cNvPr id="14" name="Shape 12"/>
          <p:cNvSpPr/>
          <p:nvPr/>
        </p:nvSpPr>
        <p:spPr>
          <a:xfrm>
            <a:off x="10561320" y="603504"/>
            <a:ext cx="41148" cy="41148"/>
          </a:xfrm>
          <a:prstGeom prst="ellipse">
            <a:avLst/>
          </a:prstGeom>
          <a:solidFill>
            <a:srgbClr val="22D3EE">
              <a:alpha val="60000"/>
            </a:srgbClr>
          </a:solidFill>
          <a:ln w="12700">
            <a:solidFill>
              <a:srgbClr val="22D3EE">
                <a:alpha val="0"/>
              </a:srgbClr>
            </a:solidFill>
            <a:prstDash val="solid"/>
          </a:ln>
        </p:spPr>
      </p:sp>
      <p:sp>
        <p:nvSpPr>
          <p:cNvPr id="15" name="Shape 13"/>
          <p:cNvSpPr/>
          <p:nvPr/>
        </p:nvSpPr>
        <p:spPr>
          <a:xfrm>
            <a:off x="10725912" y="603504"/>
            <a:ext cx="41148" cy="41148"/>
          </a:xfrm>
          <a:prstGeom prst="ellipse">
            <a:avLst/>
          </a:prstGeom>
          <a:solidFill>
            <a:srgbClr val="22D3EE">
              <a:alpha val="60000"/>
            </a:srgbClr>
          </a:solidFill>
          <a:ln w="12700">
            <a:solidFill>
              <a:srgbClr val="22D3EE">
                <a:alpha val="0"/>
              </a:srgbClr>
            </a:solidFill>
            <a:prstDash val="solid"/>
          </a:ln>
        </p:spPr>
      </p:sp>
      <p:sp>
        <p:nvSpPr>
          <p:cNvPr id="16" name="Shape 14"/>
          <p:cNvSpPr/>
          <p:nvPr/>
        </p:nvSpPr>
        <p:spPr>
          <a:xfrm>
            <a:off x="10890504" y="603504"/>
            <a:ext cx="41148" cy="41148"/>
          </a:xfrm>
          <a:prstGeom prst="ellipse">
            <a:avLst/>
          </a:prstGeom>
          <a:solidFill>
            <a:srgbClr val="22D3EE">
              <a:alpha val="60000"/>
            </a:srgbClr>
          </a:solidFill>
          <a:ln w="12700">
            <a:solidFill>
              <a:srgbClr val="22D3EE">
                <a:alpha val="0"/>
              </a:srgbClr>
            </a:solidFill>
            <a:prstDash val="solid"/>
          </a:ln>
        </p:spPr>
      </p:sp>
      <p:sp>
        <p:nvSpPr>
          <p:cNvPr id="17" name="Shape 15"/>
          <p:cNvSpPr/>
          <p:nvPr/>
        </p:nvSpPr>
        <p:spPr>
          <a:xfrm>
            <a:off x="11055096" y="603504"/>
            <a:ext cx="41148" cy="41148"/>
          </a:xfrm>
          <a:prstGeom prst="ellipse">
            <a:avLst/>
          </a:prstGeom>
          <a:solidFill>
            <a:srgbClr val="22D3EE">
              <a:alpha val="60000"/>
            </a:srgbClr>
          </a:solidFill>
          <a:ln w="12700">
            <a:solidFill>
              <a:srgbClr val="22D3EE">
                <a:alpha val="0"/>
              </a:srgbClr>
            </a:solidFill>
            <a:prstDash val="solid"/>
          </a:ln>
        </p:spPr>
      </p:sp>
      <p:sp>
        <p:nvSpPr>
          <p:cNvPr id="18" name="Shape 16"/>
          <p:cNvSpPr/>
          <p:nvPr/>
        </p:nvSpPr>
        <p:spPr>
          <a:xfrm>
            <a:off x="11219688" y="603504"/>
            <a:ext cx="41148" cy="41148"/>
          </a:xfrm>
          <a:prstGeom prst="ellipse">
            <a:avLst/>
          </a:prstGeom>
          <a:solidFill>
            <a:srgbClr val="22D3EE">
              <a:alpha val="60000"/>
            </a:srgbClr>
          </a:solidFill>
          <a:ln w="12700">
            <a:solidFill>
              <a:srgbClr val="22D3EE">
                <a:alpha val="0"/>
              </a:srgbClr>
            </a:solidFill>
            <a:prstDash val="solid"/>
          </a:ln>
        </p:spPr>
      </p:sp>
      <p:sp>
        <p:nvSpPr>
          <p:cNvPr id="19" name="Shape 17"/>
          <p:cNvSpPr/>
          <p:nvPr/>
        </p:nvSpPr>
        <p:spPr>
          <a:xfrm>
            <a:off x="11384280" y="603504"/>
            <a:ext cx="41148" cy="41148"/>
          </a:xfrm>
          <a:prstGeom prst="ellipse">
            <a:avLst/>
          </a:prstGeom>
          <a:solidFill>
            <a:srgbClr val="22D3EE">
              <a:alpha val="60000"/>
            </a:srgbClr>
          </a:solidFill>
          <a:ln w="12700">
            <a:solidFill>
              <a:srgbClr val="22D3EE">
                <a:alpha val="0"/>
              </a:srgbClr>
            </a:solidFill>
            <a:prstDash val="solid"/>
          </a:ln>
        </p:spPr>
      </p:sp>
      <p:sp>
        <p:nvSpPr>
          <p:cNvPr id="20" name="Text 18"/>
          <p:cNvSpPr txBox="1"/>
          <p:nvPr/>
        </p:nvSpPr>
        <p:spPr>
          <a:xfrm>
            <a:off x="411480" y="32004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Bilan et compétences</a:t>
            </a:r>
            <a:endParaRPr lang="en-US" sz="3000" dirty="0"/>
          </a:p>
        </p:txBody>
      </p:sp>
      <p:sp>
        <p:nvSpPr>
          <p:cNvPr id="21" name="Shape 19"/>
          <p:cNvSpPr/>
          <p:nvPr/>
        </p:nvSpPr>
        <p:spPr>
          <a:xfrm>
            <a:off x="411480" y="1280160"/>
            <a:ext cx="2697480" cy="1554480"/>
          </a:xfrm>
          <a:prstGeom prst="rect">
            <a:avLst/>
          </a:prstGeom>
          <a:solidFill>
            <a:srgbClr val="111A2E"/>
          </a:solidFill>
          <a:ln w="12700">
            <a:solidFill>
              <a:srgbClr val="1E2B47"/>
            </a:solidFill>
            <a:prstDash val="solid"/>
          </a:ln>
        </p:spPr>
      </p:sp>
      <p:sp>
        <p:nvSpPr>
          <p:cNvPr id="22" name="Text 20"/>
          <p:cNvSpPr txBox="1"/>
          <p:nvPr/>
        </p:nvSpPr>
        <p:spPr>
          <a:xfrm>
            <a:off x="411480" y="1417320"/>
            <a:ext cx="2697480" cy="822960"/>
          </a:xfrm>
          <a:prstGeom prst="rect">
            <a:avLst/>
          </a:prstGeom>
          <a:noFill/>
          <a:ln/>
        </p:spPr>
        <p:txBody>
          <a:bodyPr wrap="square" lIns="0" tIns="0" rIns="0" bIns="0" rtlCol="0" anchor="ctr"/>
          <a:lstStyle/>
          <a:p>
            <a:pPr algn="ctr" indent="0" marL="0">
              <a:buNone/>
            </a:pPr>
            <a:r>
              <a:rPr lang="en-US" sz="3800" b="1" dirty="0">
                <a:solidFill>
                  <a:srgbClr val="22D3EE"/>
                </a:solidFill>
                <a:latin typeface="Bookman Old Style" pitchFamily="34" charset="0"/>
                <a:ea typeface="Bookman Old Style" pitchFamily="34" charset="-122"/>
                <a:cs typeface="Bookman Old Style" pitchFamily="34" charset="-120"/>
              </a:rPr>
              <a:t>11 + 1</a:t>
            </a:r>
            <a:endParaRPr lang="en-US" sz="3800" dirty="0"/>
          </a:p>
        </p:txBody>
      </p:sp>
      <p:sp>
        <p:nvSpPr>
          <p:cNvPr id="23" name="Text 21"/>
          <p:cNvSpPr txBox="1"/>
          <p:nvPr/>
        </p:nvSpPr>
        <p:spPr>
          <a:xfrm>
            <a:off x="548640" y="2240280"/>
            <a:ext cx="2423160" cy="457200"/>
          </a:xfrm>
          <a:prstGeom prst="rect">
            <a:avLst/>
          </a:prstGeom>
          <a:noFill/>
          <a:ln/>
        </p:spPr>
        <p:txBody>
          <a:bodyPr wrap="square" lIns="0" tIns="0" rIns="0" bIns="0" rtlCol="0" anchor="ctr"/>
          <a:lstStyle/>
          <a:p>
            <a:pPr algn="ctr" indent="0" marL="0">
              <a:buNone/>
            </a:pPr>
            <a:r>
              <a:rPr lang="en-US" sz="1300" dirty="0">
                <a:solidFill>
                  <a:srgbClr val="E6EDF7"/>
                </a:solidFill>
                <a:latin typeface="Calibri" pitchFamily="34" charset="0"/>
                <a:ea typeface="Calibri" pitchFamily="34" charset="-122"/>
                <a:cs typeface="Calibri" pitchFamily="34" charset="-120"/>
              </a:rPr>
              <a:t>jobs réalisés + bonus</a:t>
            </a:r>
            <a:endParaRPr lang="en-US" sz="1300" dirty="0"/>
          </a:p>
        </p:txBody>
      </p:sp>
      <p:sp>
        <p:nvSpPr>
          <p:cNvPr id="24" name="Shape 22"/>
          <p:cNvSpPr/>
          <p:nvPr/>
        </p:nvSpPr>
        <p:spPr>
          <a:xfrm>
            <a:off x="3291840" y="1280160"/>
            <a:ext cx="2697480" cy="1554480"/>
          </a:xfrm>
          <a:prstGeom prst="rect">
            <a:avLst/>
          </a:prstGeom>
          <a:solidFill>
            <a:srgbClr val="111A2E"/>
          </a:solidFill>
          <a:ln w="12700">
            <a:solidFill>
              <a:srgbClr val="1E2B47"/>
            </a:solidFill>
            <a:prstDash val="solid"/>
          </a:ln>
        </p:spPr>
      </p:sp>
      <p:sp>
        <p:nvSpPr>
          <p:cNvPr id="25" name="Text 23"/>
          <p:cNvSpPr txBox="1"/>
          <p:nvPr/>
        </p:nvSpPr>
        <p:spPr>
          <a:xfrm>
            <a:off x="3291840" y="1417320"/>
            <a:ext cx="2697480" cy="822960"/>
          </a:xfrm>
          <a:prstGeom prst="rect">
            <a:avLst/>
          </a:prstGeom>
          <a:noFill/>
          <a:ln/>
        </p:spPr>
        <p:txBody>
          <a:bodyPr wrap="square" lIns="0" tIns="0" rIns="0" bIns="0" rtlCol="0" anchor="ctr"/>
          <a:lstStyle/>
          <a:p>
            <a:pPr algn="ctr" indent="0" marL="0">
              <a:buNone/>
            </a:pPr>
            <a:r>
              <a:rPr lang="en-US" sz="3800" b="1" dirty="0">
                <a:solidFill>
                  <a:srgbClr val="22D3EE"/>
                </a:solidFill>
                <a:latin typeface="Bookman Old Style" pitchFamily="34" charset="0"/>
                <a:ea typeface="Bookman Old Style" pitchFamily="34" charset="-122"/>
                <a:cs typeface="Bookman Old Style" pitchFamily="34" charset="-120"/>
              </a:rPr>
              <a:t>4</a:t>
            </a:r>
            <a:endParaRPr lang="en-US" sz="3800" dirty="0"/>
          </a:p>
        </p:txBody>
      </p:sp>
      <p:sp>
        <p:nvSpPr>
          <p:cNvPr id="26" name="Text 24"/>
          <p:cNvSpPr txBox="1"/>
          <p:nvPr/>
        </p:nvSpPr>
        <p:spPr>
          <a:xfrm>
            <a:off x="3429000" y="2240280"/>
            <a:ext cx="2423160" cy="457200"/>
          </a:xfrm>
          <a:prstGeom prst="rect">
            <a:avLst/>
          </a:prstGeom>
          <a:noFill/>
          <a:ln/>
        </p:spPr>
        <p:txBody>
          <a:bodyPr wrap="square" lIns="0" tIns="0" rIns="0" bIns="0" rtlCol="0" anchor="ctr"/>
          <a:lstStyle/>
          <a:p>
            <a:pPr algn="ctr" indent="0" marL="0">
              <a:buNone/>
            </a:pPr>
            <a:r>
              <a:rPr lang="en-US" sz="1300" dirty="0">
                <a:solidFill>
                  <a:srgbClr val="E6EDF7"/>
                </a:solidFill>
                <a:latin typeface="Calibri" pitchFamily="34" charset="0"/>
                <a:ea typeface="Calibri" pitchFamily="34" charset="-122"/>
                <a:cs typeface="Calibri" pitchFamily="34" charset="-120"/>
              </a:rPr>
              <a:t>conteneurs dans la stack LAMP</a:t>
            </a:r>
            <a:endParaRPr lang="en-US" sz="1300" dirty="0"/>
          </a:p>
        </p:txBody>
      </p:sp>
      <p:sp>
        <p:nvSpPr>
          <p:cNvPr id="27" name="Shape 25"/>
          <p:cNvSpPr/>
          <p:nvPr/>
        </p:nvSpPr>
        <p:spPr>
          <a:xfrm>
            <a:off x="6172200" y="1280160"/>
            <a:ext cx="2697480" cy="1554480"/>
          </a:xfrm>
          <a:prstGeom prst="rect">
            <a:avLst/>
          </a:prstGeom>
          <a:solidFill>
            <a:srgbClr val="111A2E"/>
          </a:solidFill>
          <a:ln w="12700">
            <a:solidFill>
              <a:srgbClr val="1E2B47"/>
            </a:solidFill>
            <a:prstDash val="solid"/>
          </a:ln>
        </p:spPr>
      </p:sp>
      <p:sp>
        <p:nvSpPr>
          <p:cNvPr id="28" name="Text 26"/>
          <p:cNvSpPr txBox="1"/>
          <p:nvPr/>
        </p:nvSpPr>
        <p:spPr>
          <a:xfrm>
            <a:off x="6172200" y="1417320"/>
            <a:ext cx="2697480" cy="822960"/>
          </a:xfrm>
          <a:prstGeom prst="rect">
            <a:avLst/>
          </a:prstGeom>
          <a:noFill/>
          <a:ln/>
        </p:spPr>
        <p:txBody>
          <a:bodyPr wrap="square" lIns="0" tIns="0" rIns="0" bIns="0" rtlCol="0" anchor="ctr"/>
          <a:lstStyle/>
          <a:p>
            <a:pPr algn="ctr" indent="0" marL="0">
              <a:buNone/>
            </a:pPr>
            <a:r>
              <a:rPr lang="en-US" sz="3800" b="1" dirty="0">
                <a:solidFill>
                  <a:srgbClr val="22D3EE"/>
                </a:solidFill>
                <a:latin typeface="Bookman Old Style" pitchFamily="34" charset="0"/>
                <a:ea typeface="Bookman Old Style" pitchFamily="34" charset="-122"/>
                <a:cs typeface="Bookman Old Style" pitchFamily="34" charset="-120"/>
              </a:rPr>
              <a:t>2</a:t>
            </a:r>
            <a:endParaRPr lang="en-US" sz="3800" dirty="0"/>
          </a:p>
        </p:txBody>
      </p:sp>
      <p:sp>
        <p:nvSpPr>
          <p:cNvPr id="29" name="Text 27"/>
          <p:cNvSpPr txBox="1"/>
          <p:nvPr/>
        </p:nvSpPr>
        <p:spPr>
          <a:xfrm>
            <a:off x="6309360" y="2240280"/>
            <a:ext cx="2423160" cy="457200"/>
          </a:xfrm>
          <a:prstGeom prst="rect">
            <a:avLst/>
          </a:prstGeom>
          <a:noFill/>
          <a:ln/>
        </p:spPr>
        <p:txBody>
          <a:bodyPr wrap="square" lIns="0" tIns="0" rIns="0" bIns="0" rtlCol="0" anchor="ctr"/>
          <a:lstStyle/>
          <a:p>
            <a:pPr algn="ctr" indent="0" marL="0">
              <a:buNone/>
            </a:pPr>
            <a:r>
              <a:rPr lang="en-US" sz="1300" dirty="0">
                <a:solidFill>
                  <a:srgbClr val="E6EDF7"/>
                </a:solidFill>
                <a:latin typeface="Calibri" pitchFamily="34" charset="0"/>
                <a:ea typeface="Calibri" pitchFamily="34" charset="-122"/>
                <a:cs typeface="Calibri" pitchFamily="34" charset="-120"/>
              </a:rPr>
              <a:t>scripts install / désinstall</a:t>
            </a:r>
            <a:endParaRPr lang="en-US" sz="1300" dirty="0"/>
          </a:p>
        </p:txBody>
      </p:sp>
      <p:sp>
        <p:nvSpPr>
          <p:cNvPr id="30" name="Shape 28"/>
          <p:cNvSpPr/>
          <p:nvPr/>
        </p:nvSpPr>
        <p:spPr>
          <a:xfrm>
            <a:off x="9052560" y="1280160"/>
            <a:ext cx="2697480" cy="1554480"/>
          </a:xfrm>
          <a:prstGeom prst="rect">
            <a:avLst/>
          </a:prstGeom>
          <a:solidFill>
            <a:srgbClr val="111A2E"/>
          </a:solidFill>
          <a:ln w="12700">
            <a:solidFill>
              <a:srgbClr val="1E2B47"/>
            </a:solidFill>
            <a:prstDash val="solid"/>
          </a:ln>
        </p:spPr>
      </p:sp>
      <p:sp>
        <p:nvSpPr>
          <p:cNvPr id="31" name="Text 29"/>
          <p:cNvSpPr txBox="1"/>
          <p:nvPr/>
        </p:nvSpPr>
        <p:spPr>
          <a:xfrm>
            <a:off x="9052560" y="1417320"/>
            <a:ext cx="2697480" cy="822960"/>
          </a:xfrm>
          <a:prstGeom prst="rect">
            <a:avLst/>
          </a:prstGeom>
          <a:noFill/>
          <a:ln/>
        </p:spPr>
        <p:txBody>
          <a:bodyPr wrap="square" lIns="0" tIns="0" rIns="0" bIns="0" rtlCol="0" anchor="ctr"/>
          <a:lstStyle/>
          <a:p>
            <a:pPr algn="ctr" indent="0" marL="0">
              <a:buNone/>
            </a:pPr>
            <a:r>
              <a:rPr lang="en-US" sz="3800" b="1" dirty="0">
                <a:solidFill>
                  <a:srgbClr val="22D3EE"/>
                </a:solidFill>
                <a:latin typeface="Bookman Old Style" pitchFamily="34" charset="0"/>
                <a:ea typeface="Bookman Old Style" pitchFamily="34" charset="-122"/>
                <a:cs typeface="Bookman Old Style" pitchFamily="34" charset="-120"/>
              </a:rPr>
              <a:t>9443</a:t>
            </a:r>
            <a:endParaRPr lang="en-US" sz="3800" dirty="0"/>
          </a:p>
        </p:txBody>
      </p:sp>
      <p:sp>
        <p:nvSpPr>
          <p:cNvPr id="32" name="Text 30"/>
          <p:cNvSpPr txBox="1"/>
          <p:nvPr/>
        </p:nvSpPr>
        <p:spPr>
          <a:xfrm>
            <a:off x="9189720" y="2240280"/>
            <a:ext cx="2423160" cy="457200"/>
          </a:xfrm>
          <a:prstGeom prst="rect">
            <a:avLst/>
          </a:prstGeom>
          <a:noFill/>
          <a:ln/>
        </p:spPr>
        <p:txBody>
          <a:bodyPr wrap="square" lIns="0" tIns="0" rIns="0" bIns="0" rtlCol="0" anchor="ctr"/>
          <a:lstStyle/>
          <a:p>
            <a:pPr algn="ctr" indent="0" marL="0">
              <a:buNone/>
            </a:pPr>
            <a:r>
              <a:rPr lang="en-US" sz="1300" dirty="0">
                <a:solidFill>
                  <a:srgbClr val="E6EDF7"/>
                </a:solidFill>
                <a:latin typeface="Calibri" pitchFamily="34" charset="0"/>
                <a:ea typeface="Calibri" pitchFamily="34" charset="-122"/>
                <a:cs typeface="Calibri" pitchFamily="34" charset="-120"/>
              </a:rPr>
              <a:t>Portainer, interface de gestion</a:t>
            </a:r>
            <a:endParaRPr lang="en-US" sz="1300" dirty="0"/>
          </a:p>
        </p:txBody>
      </p:sp>
      <p:sp>
        <p:nvSpPr>
          <p:cNvPr id="33" name="Shape 31"/>
          <p:cNvSpPr/>
          <p:nvPr/>
        </p:nvSpPr>
        <p:spPr>
          <a:xfrm>
            <a:off x="411480" y="3108960"/>
            <a:ext cx="6949440" cy="2468880"/>
          </a:xfrm>
          <a:prstGeom prst="rect">
            <a:avLst/>
          </a:prstGeom>
          <a:solidFill>
            <a:srgbClr val="111A2E"/>
          </a:solidFill>
          <a:ln w="12700">
            <a:solidFill>
              <a:srgbClr val="1E2B47"/>
            </a:solidFill>
            <a:prstDash val="solid"/>
          </a:ln>
        </p:spPr>
      </p:sp>
      <p:sp>
        <p:nvSpPr>
          <p:cNvPr id="34" name="Text 32"/>
          <p:cNvSpPr txBox="1"/>
          <p:nvPr/>
        </p:nvSpPr>
        <p:spPr>
          <a:xfrm>
            <a:off x="640080" y="3246120"/>
            <a:ext cx="6583680" cy="219456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E6EDF7"/>
                </a:solidFill>
                <a:latin typeface="Calibri" pitchFamily="34" charset="0"/>
                <a:ea typeface="Calibri" pitchFamily="34" charset="-122"/>
                <a:cs typeface="Calibri" pitchFamily="34" charset="-120"/>
              </a:rPr>
              <a:t>Images, conteneurs, volumes, réseaux Compose</a:t>
            </a:r>
            <a:endParaRPr lang="en-US" sz="1500" dirty="0"/>
          </a:p>
          <a:p>
            <a:pPr marL="342900" indent="-342900">
              <a:spcAft>
                <a:spcPts val="800"/>
              </a:spcAft>
              <a:buSzPct val="100000"/>
              <a:buChar char="▸"/>
            </a:pPr>
            <a:r>
              <a:rPr lang="en-US" sz="1500" dirty="0">
                <a:solidFill>
                  <a:srgbClr val="E6EDF7"/>
                </a:solidFill>
                <a:latin typeface="Calibri" pitchFamily="34" charset="0"/>
                <a:ea typeface="Calibri" pitchFamily="34" charset="-122"/>
                <a:cs typeface="Calibri" pitchFamily="34" charset="-120"/>
              </a:rPr>
              <a:t>Écrire un Dockerfile, publier des ports, partager des données</a:t>
            </a:r>
            <a:endParaRPr lang="en-US" sz="1500" dirty="0"/>
          </a:p>
          <a:p>
            <a:pPr marL="342900" indent="-342900">
              <a:spcAft>
                <a:spcPts val="800"/>
              </a:spcAft>
              <a:buSzPct val="100000"/>
              <a:buChar char="▸"/>
            </a:pPr>
            <a:r>
              <a:rPr lang="en-US" sz="1500" dirty="0">
                <a:solidFill>
                  <a:srgbClr val="E6EDF7"/>
                </a:solidFill>
                <a:latin typeface="Calibri" pitchFamily="34" charset="0"/>
                <a:ea typeface="Calibri" pitchFamily="34" charset="-122"/>
                <a:cs typeface="Calibri" pitchFamily="34" charset="-120"/>
              </a:rPr>
              <a:t>Registry privé et interface web</a:t>
            </a:r>
            <a:endParaRPr lang="en-US" sz="1500" dirty="0"/>
          </a:p>
          <a:p>
            <a:pPr marL="342900" indent="-342900">
              <a:spcAft>
                <a:spcPts val="800"/>
              </a:spcAft>
              <a:buSzPct val="100000"/>
              <a:buChar char="▸"/>
            </a:pPr>
            <a:r>
              <a:rPr lang="en-US" sz="1500" dirty="0">
                <a:solidFill>
                  <a:srgbClr val="E6EDF7"/>
                </a:solidFill>
                <a:latin typeface="Calibri" pitchFamily="34" charset="0"/>
                <a:ea typeface="Calibri" pitchFamily="34" charset="-122"/>
                <a:cs typeface="Calibri" pitchFamily="34" charset="-120"/>
              </a:rPr>
              <a:t>Automatiser : scripts bash d'installation et de nettoyage</a:t>
            </a:r>
            <a:endParaRPr lang="en-US" sz="1500" dirty="0"/>
          </a:p>
          <a:p>
            <a:pPr marL="342900" indent="-342900">
              <a:spcAft>
                <a:spcPts val="800"/>
              </a:spcAft>
              <a:buSzPct val="100000"/>
              <a:buChar char="▸"/>
            </a:pPr>
            <a:r>
              <a:rPr lang="en-US" sz="1500" dirty="0">
                <a:solidFill>
                  <a:srgbClr val="E6EDF7"/>
                </a:solidFill>
                <a:latin typeface="Calibri" pitchFamily="34" charset="0"/>
                <a:ea typeface="Calibri" pitchFamily="34" charset="-122"/>
                <a:cs typeface="Calibri" pitchFamily="34" charset="-120"/>
              </a:rPr>
              <a:t>Sécurité : docker.sock = accès root, mots de passe, ports exposés</a:t>
            </a:r>
            <a:endParaRPr lang="en-US" sz="1500" dirty="0"/>
          </a:p>
        </p:txBody>
      </p:sp>
      <p:sp>
        <p:nvSpPr>
          <p:cNvPr id="35" name="Shape 33"/>
          <p:cNvSpPr/>
          <p:nvPr/>
        </p:nvSpPr>
        <p:spPr>
          <a:xfrm>
            <a:off x="7635240" y="3108960"/>
            <a:ext cx="4114800" cy="2468880"/>
          </a:xfrm>
          <a:prstGeom prst="rect">
            <a:avLst/>
          </a:prstGeom>
          <a:solidFill>
            <a:srgbClr val="111A2E"/>
          </a:solidFill>
          <a:ln w="15875">
            <a:solidFill>
              <a:srgbClr val="F43F8E"/>
            </a:solidFill>
            <a:prstDash val="solid"/>
          </a:ln>
        </p:spPr>
      </p:sp>
      <p:sp>
        <p:nvSpPr>
          <p:cNvPr id="36" name="Text 34"/>
          <p:cNvSpPr txBox="1"/>
          <p:nvPr/>
        </p:nvSpPr>
        <p:spPr>
          <a:xfrm>
            <a:off x="7863840" y="3246120"/>
            <a:ext cx="3657600" cy="274320"/>
          </a:xfrm>
          <a:prstGeom prst="rect">
            <a:avLst/>
          </a:prstGeom>
          <a:noFill/>
          <a:ln/>
        </p:spPr>
        <p:txBody>
          <a:bodyPr wrap="square" lIns="0" tIns="0" rIns="0" bIns="0" rtlCol="0" anchor="ctr"/>
          <a:lstStyle/>
          <a:p>
            <a:pPr indent="0" marL="0">
              <a:buNone/>
            </a:pPr>
            <a:r>
              <a:rPr lang="en-US" sz="1100" b="1" spc="300" kern="0" dirty="0">
                <a:solidFill>
                  <a:srgbClr val="F43F8E"/>
                </a:solidFill>
                <a:latin typeface="Calibri" pitchFamily="34" charset="0"/>
                <a:ea typeface="Calibri" pitchFamily="34" charset="-122"/>
                <a:cs typeface="Calibri" pitchFamily="34" charset="-120"/>
              </a:rPr>
              <a:t>DÉPÔT GITHUB</a:t>
            </a:r>
            <a:endParaRPr lang="en-US" sz="1100" dirty="0"/>
          </a:p>
        </p:txBody>
      </p:sp>
      <p:sp>
        <p:nvSpPr>
          <p:cNvPr id="37" name="Text 35"/>
          <p:cNvSpPr txBox="1"/>
          <p:nvPr/>
        </p:nvSpPr>
        <p:spPr>
          <a:xfrm>
            <a:off x="7863840" y="3611880"/>
            <a:ext cx="3657600" cy="822960"/>
          </a:xfrm>
          <a:prstGeom prst="rect">
            <a:avLst/>
          </a:prstGeom>
          <a:noFill/>
          <a:ln/>
        </p:spPr>
        <p:txBody>
          <a:bodyPr wrap="square" lIns="0" tIns="0" rIns="0" bIns="0" rtlCol="0" anchor="ctr"/>
          <a:lstStyle/>
          <a:p>
            <a:pPr indent="0" marL="0">
              <a:buNone/>
            </a:pPr>
            <a:r>
              <a:rPr lang="en-US" sz="1600" dirty="0">
                <a:solidFill>
                  <a:srgbClr val="34D399"/>
                </a:solidFill>
                <a:latin typeface="Courier New" pitchFamily="34" charset="0"/>
                <a:ea typeface="Courier New" pitchFamily="34" charset="-122"/>
                <a:cs typeface="Courier New" pitchFamily="34" charset="-120"/>
              </a:rPr>
              <a:t>github.com/</a:t>
            </a:r>
            <a:endParaRPr lang="en-US" sz="1600" dirty="0"/>
          </a:p>
          <a:p>
            <a:pPr indent="0" marL="0">
              <a:buNone/>
            </a:pPr>
            <a:r>
              <a:rPr lang="en-US" sz="1600" dirty="0">
                <a:solidFill>
                  <a:srgbClr val="34D399"/>
                </a:solidFill>
                <a:latin typeface="Courier New" pitchFamily="34" charset="0"/>
                <a:ea typeface="Courier New" pitchFamily="34" charset="-122"/>
                <a:cs typeface="Courier New" pitchFamily="34" charset="-120"/>
              </a:rPr>
              <a:t>alexis-noiret/docker</a:t>
            </a:r>
            <a:endParaRPr lang="en-US" sz="1600" dirty="0"/>
          </a:p>
        </p:txBody>
      </p:sp>
      <p:sp>
        <p:nvSpPr>
          <p:cNvPr id="38" name="Text 36"/>
          <p:cNvSpPr txBox="1"/>
          <p:nvPr/>
        </p:nvSpPr>
        <p:spPr>
          <a:xfrm>
            <a:off x="7863840" y="4526280"/>
            <a:ext cx="3657600" cy="822960"/>
          </a:xfrm>
          <a:prstGeom prst="rect">
            <a:avLst/>
          </a:prstGeom>
          <a:noFill/>
          <a:ln/>
        </p:spPr>
        <p:txBody>
          <a:bodyPr wrap="square" lIns="0" tIns="0" rIns="0" bIns="0" rtlCol="0" anchor="ctr"/>
          <a:lstStyle/>
          <a:p>
            <a:pPr indent="0" marL="0">
              <a:buNone/>
            </a:pPr>
            <a:r>
              <a:rPr lang="en-US" sz="1200" dirty="0">
                <a:solidFill>
                  <a:srgbClr val="B8C4D6"/>
                </a:solidFill>
                <a:latin typeface="Calibri" pitchFamily="34" charset="0"/>
                <a:ea typeface="Calibri" pitchFamily="34" charset="-122"/>
                <a:cs typeface="Calibri" pitchFamily="34" charset="-120"/>
              </a:rPr>
              <a:t>README général, un dossier par job avec captures et commandes, scripts de démonstration.</a:t>
            </a:r>
            <a:endParaRPr lang="en-US" sz="1200" dirty="0"/>
          </a:p>
        </p:txBody>
      </p:sp>
      <p:sp>
        <p:nvSpPr>
          <p:cNvPr id="39" name="Text 37"/>
          <p:cNvSpPr txBox="1"/>
          <p:nvPr/>
        </p:nvSpPr>
        <p:spPr>
          <a:xfrm>
            <a:off x="411480" y="5806440"/>
            <a:ext cx="7315200" cy="457200"/>
          </a:xfrm>
          <a:prstGeom prst="rect">
            <a:avLst/>
          </a:prstGeom>
          <a:noFill/>
          <a:ln/>
        </p:spPr>
        <p:txBody>
          <a:bodyPr wrap="square" lIns="0" tIns="0" rIns="0" bIns="0" rtlCol="0" anchor="ctr"/>
          <a:lstStyle/>
          <a:p>
            <a:pPr indent="0" marL="0">
              <a:buNone/>
            </a:pPr>
            <a:r>
              <a:rPr lang="en-US" sz="2200" i="1" dirty="0">
                <a:solidFill>
                  <a:srgbClr val="22D3EE"/>
                </a:solidFill>
                <a:latin typeface="Bookman Old Style" pitchFamily="34" charset="0"/>
                <a:ea typeface="Bookman Old Style" pitchFamily="34" charset="-122"/>
                <a:cs typeface="Bookman Old Style" pitchFamily="34" charset="-120"/>
              </a:rPr>
              <a:t>Merci — questions ?</a:t>
            </a:r>
            <a:endParaRPr lang="en-US" sz="2200" dirty="0"/>
          </a:p>
        </p:txBody>
      </p:sp>
      <p:sp>
        <p:nvSpPr>
          <p:cNvPr id="40" name="Text 38"/>
          <p:cNvSpPr txBox="1"/>
          <p:nvPr/>
        </p:nvSpPr>
        <p:spPr>
          <a:xfrm>
            <a:off x="411480" y="6446520"/>
            <a:ext cx="2743200" cy="228600"/>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DOCKER</a:t>
            </a:r>
            <a:endParaRPr lang="en-US" sz="900" dirty="0"/>
          </a:p>
        </p:txBody>
      </p:sp>
      <p:sp>
        <p:nvSpPr>
          <p:cNvPr id="41" name="Text 39"/>
          <p:cNvSpPr txBox="1"/>
          <p:nvPr/>
        </p:nvSpPr>
        <p:spPr>
          <a:xfrm>
            <a:off x="10881360" y="644652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 / 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 Soutenance</dc:title>
  <dc:subject>PptxGenJS Presentation</dc:subject>
  <dc:creator>Alexis Noiret</dc:creator>
  <cp:lastModifiedBy>Alexis Noiret</cp:lastModifiedBy>
  <cp:revision>1</cp:revision>
  <dcterms:created xsi:type="dcterms:W3CDTF">2026-10-08T20:50:07Z</dcterms:created>
  <dcterms:modified xsi:type="dcterms:W3CDTF">2026-10-08T20:50:07Z</dcterms:modified>
</cp:coreProperties>
</file>